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71" r:id="rId6"/>
  </p:sldMasterIdLst>
  <p:notesMasterIdLst>
    <p:notesMasterId r:id="rId19"/>
  </p:notesMasterIdLst>
  <p:handoutMasterIdLst>
    <p:handoutMasterId r:id="rId20"/>
  </p:handoutMasterIdLst>
  <p:sldIdLst>
    <p:sldId id="263" r:id="rId7"/>
    <p:sldId id="276" r:id="rId8"/>
    <p:sldId id="268" r:id="rId9"/>
    <p:sldId id="277" r:id="rId10"/>
    <p:sldId id="284" r:id="rId11"/>
    <p:sldId id="278" r:id="rId12"/>
    <p:sldId id="281" r:id="rId13"/>
    <p:sldId id="279" r:id="rId14"/>
    <p:sldId id="280" r:id="rId15"/>
    <p:sldId id="282" r:id="rId16"/>
    <p:sldId id="283" r:id="rId17"/>
    <p:sldId id="267" r:id="rId18"/>
  </p:sldIdLst>
  <p:sldSz cx="12192000" cy="6858000"/>
  <p:notesSz cx="6797675" cy="9928225"/>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FF00"/>
    <a:srgbClr val="BD2B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C47E5D-3174-4812-AA46-DD7D2366A1F9}" v="226" dt="2025-06-02T16:20:25.593"/>
    <p1510:client id="{29B684A2-46E8-E079-2D8F-549F44B37D04}" v="7131" dt="2025-06-02T20:08:15.769"/>
    <p1510:client id="{787F1BA5-85F0-DFB6-1B59-CC8DA1362946}" v="341" dt="2025-06-03T09:28:31.846"/>
    <p1510:client id="{F66953C8-05ED-5CE2-D0FA-1B8348E90F34}" v="1" dt="2025-06-03T17:33:04.283"/>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Stile medio 2 - Color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1" y="0"/>
            <a:ext cx="2945659" cy="498136"/>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50444" y="0"/>
            <a:ext cx="2945659" cy="498136"/>
          </a:xfrm>
          <a:prstGeom prst="rect">
            <a:avLst/>
          </a:prstGeom>
        </p:spPr>
        <p:txBody>
          <a:bodyPr vert="horz" lIns="91440" tIns="45720" rIns="91440" bIns="45720" rtlCol="0"/>
          <a:lstStyle>
            <a:lvl1pPr algn="r">
              <a:defRPr sz="1200"/>
            </a:lvl1pPr>
          </a:lstStyle>
          <a:p>
            <a:fld id="{07D58A08-A15A-4C04-BB8A-1EE48D0160CF}" type="datetimeFigureOut">
              <a:rPr lang="it-IT" smtClean="0"/>
              <a:t>04/06/2025</a:t>
            </a:fld>
            <a:endParaRPr lang="it-IT"/>
          </a:p>
        </p:txBody>
      </p:sp>
      <p:sp>
        <p:nvSpPr>
          <p:cNvPr id="4" name="Segnaposto piè di pagina 3"/>
          <p:cNvSpPr>
            <a:spLocks noGrp="1"/>
          </p:cNvSpPr>
          <p:nvPr>
            <p:ph type="ftr" sz="quarter" idx="2"/>
          </p:nvPr>
        </p:nvSpPr>
        <p:spPr>
          <a:xfrm>
            <a:off x="1" y="9430092"/>
            <a:ext cx="2945659" cy="498135"/>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50444" y="9430092"/>
            <a:ext cx="2945659" cy="498135"/>
          </a:xfrm>
          <a:prstGeom prst="rect">
            <a:avLst/>
          </a:prstGeom>
        </p:spPr>
        <p:txBody>
          <a:bodyPr vert="horz" lIns="91440" tIns="45720" rIns="91440" bIns="45720" rtlCol="0" anchor="b"/>
          <a:lstStyle>
            <a:lvl1pPr algn="r">
              <a:defRPr sz="1200"/>
            </a:lvl1pPr>
          </a:lstStyle>
          <a:p>
            <a:fld id="{56BB7062-2C0D-46B7-9F71-552E63D1E68E}" type="slidenum">
              <a:rPr lang="it-IT" smtClean="0"/>
              <a:t>‹N›</a:t>
            </a:fld>
            <a:endParaRPr lang="it-IT"/>
          </a:p>
        </p:txBody>
      </p:sp>
    </p:spTree>
    <p:extLst>
      <p:ext uri="{BB962C8B-B14F-4D97-AF65-F5344CB8AC3E}">
        <p14:creationId xmlns:p14="http://schemas.microsoft.com/office/powerpoint/2010/main" val="31022942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fld id="{6E41644A-682F-45A6-A2C2-147DF60C07D5}" type="datetimeFigureOut">
              <a:rPr lang="it-IT" smtClean="0"/>
              <a:t>04/06/2025</a:t>
            </a:fld>
            <a:endParaRPr lang="it-IT"/>
          </a:p>
        </p:txBody>
      </p:sp>
      <p:sp>
        <p:nvSpPr>
          <p:cNvPr id="4" name="Segnaposto immagine diapositiva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fld id="{6207DB1B-E751-4006-8183-348A928A75AE}" type="slidenum">
              <a:rPr lang="it-IT" smtClean="0"/>
              <a:t>‹N›</a:t>
            </a:fld>
            <a:endParaRPr lang="it-IT"/>
          </a:p>
        </p:txBody>
      </p:sp>
    </p:spTree>
    <p:extLst>
      <p:ext uri="{BB962C8B-B14F-4D97-AF65-F5344CB8AC3E}">
        <p14:creationId xmlns:p14="http://schemas.microsoft.com/office/powerpoint/2010/main" val="797524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6207DB1B-E751-4006-8183-348A928A75AE}" type="slidenum">
              <a:rPr lang="it-IT" smtClean="0"/>
              <a:t>4</a:t>
            </a:fld>
            <a:endParaRPr lang="it-IT"/>
          </a:p>
        </p:txBody>
      </p:sp>
    </p:spTree>
    <p:extLst>
      <p:ext uri="{BB962C8B-B14F-4D97-AF65-F5344CB8AC3E}">
        <p14:creationId xmlns:p14="http://schemas.microsoft.com/office/powerpoint/2010/main" val="3266633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yout COPERTINA">
    <p:spTree>
      <p:nvGrpSpPr>
        <p:cNvPr id="1" name=""/>
        <p:cNvGrpSpPr/>
        <p:nvPr/>
      </p:nvGrpSpPr>
      <p:grpSpPr>
        <a:xfrm>
          <a:off x="0" y="0"/>
          <a:ext cx="0" cy="0"/>
          <a:chOff x="0" y="0"/>
          <a:chExt cx="0" cy="0"/>
        </a:xfrm>
      </p:grpSpPr>
      <p:sp>
        <p:nvSpPr>
          <p:cNvPr id="3" name="Segnaposto testo 2"/>
          <p:cNvSpPr>
            <a:spLocks noGrp="1"/>
          </p:cNvSpPr>
          <p:nvPr>
            <p:ph type="body" sz="quarter" idx="10" hasCustomPrompt="1"/>
          </p:nvPr>
        </p:nvSpPr>
        <p:spPr>
          <a:xfrm>
            <a:off x="4751851" y="548680"/>
            <a:ext cx="6913364" cy="4536504"/>
          </a:xfrm>
          <a:prstGeom prst="rect">
            <a:avLst/>
          </a:prstGeom>
        </p:spPr>
        <p:txBody>
          <a:bodyPr anchor="ctr" anchorCtr="0"/>
          <a:lstStyle>
            <a:lvl1pPr marL="0" indent="0">
              <a:buNone/>
              <a:defRPr sz="3600" b="1">
                <a:solidFill>
                  <a:schemeClr val="bg1"/>
                </a:solidFill>
                <a:latin typeface="Century Gothic" panose="020B0502020202020204" pitchFamily="34" charset="0"/>
              </a:defRPr>
            </a:lvl1pPr>
          </a:lstStyle>
          <a:p>
            <a:pPr lvl="0"/>
            <a:r>
              <a:rPr lang="it-IT"/>
              <a:t>Fare clic per inserire </a:t>
            </a:r>
          </a:p>
          <a:p>
            <a:pPr lvl="0"/>
            <a:r>
              <a:rPr lang="it-IT"/>
              <a:t>il titolo della presentazione</a:t>
            </a:r>
          </a:p>
        </p:txBody>
      </p:sp>
      <p:sp>
        <p:nvSpPr>
          <p:cNvPr id="6" name="Segnaposto testo 5"/>
          <p:cNvSpPr>
            <a:spLocks noGrp="1"/>
          </p:cNvSpPr>
          <p:nvPr>
            <p:ph type="body" sz="quarter" idx="11" hasCustomPrompt="1"/>
          </p:nvPr>
        </p:nvSpPr>
        <p:spPr>
          <a:xfrm>
            <a:off x="4751917" y="5379814"/>
            <a:ext cx="7008283" cy="425450"/>
          </a:xfrm>
          <a:prstGeom prst="rect">
            <a:avLst/>
          </a:prstGeom>
        </p:spPr>
        <p:txBody>
          <a:bodyPr/>
          <a:lstStyle>
            <a:lvl1pPr marL="0" indent="0">
              <a:buNone/>
              <a:defRPr sz="2400" b="1">
                <a:solidFill>
                  <a:schemeClr val="bg1"/>
                </a:solidFill>
                <a:latin typeface="Century Gothic" panose="020B0502020202020204" pitchFamily="34" charset="0"/>
              </a:defRPr>
            </a:lvl1pPr>
          </a:lstStyle>
          <a:p>
            <a:pPr lvl="0"/>
            <a:r>
              <a:rPr lang="it-IT"/>
              <a:t>Nome Cognome</a:t>
            </a:r>
          </a:p>
        </p:txBody>
      </p:sp>
      <p:sp>
        <p:nvSpPr>
          <p:cNvPr id="8" name="Segnaposto testo 7"/>
          <p:cNvSpPr>
            <a:spLocks noGrp="1"/>
          </p:cNvSpPr>
          <p:nvPr>
            <p:ph type="body" sz="quarter" idx="12" hasCustomPrompt="1"/>
          </p:nvPr>
        </p:nvSpPr>
        <p:spPr>
          <a:xfrm>
            <a:off x="4751918" y="5877942"/>
            <a:ext cx="7105649" cy="791418"/>
          </a:xfrm>
          <a:prstGeom prst="rect">
            <a:avLst/>
          </a:prstGeom>
        </p:spPr>
        <p:txBody>
          <a:bodyPr/>
          <a:lstStyle>
            <a:lvl1pPr marL="0" indent="0">
              <a:buNone/>
              <a:defRPr sz="2000" baseline="0">
                <a:solidFill>
                  <a:schemeClr val="bg1"/>
                </a:solidFill>
                <a:latin typeface="Century Gothic" panose="020B0502020202020204" pitchFamily="34" charset="0"/>
              </a:defRPr>
            </a:lvl1pPr>
          </a:lstStyle>
          <a:p>
            <a:pPr lvl="0"/>
            <a:r>
              <a:rPr lang="it-IT"/>
              <a:t>Dipartimento/Struttura </a:t>
            </a:r>
            <a:r>
              <a:rPr lang="it-IT" err="1"/>
              <a:t>xxxxxx</a:t>
            </a:r>
            <a:r>
              <a:rPr lang="it-IT"/>
              <a:t> </a:t>
            </a:r>
            <a:r>
              <a:rPr lang="it-IT" err="1"/>
              <a:t>xxxxxxxxxxxx</a:t>
            </a:r>
            <a:r>
              <a:rPr lang="it-IT"/>
              <a:t> </a:t>
            </a:r>
            <a:r>
              <a:rPr lang="it-IT" err="1"/>
              <a:t>xxxxxxxx</a:t>
            </a:r>
            <a:r>
              <a:rPr lang="it-IT"/>
              <a:t> </a:t>
            </a:r>
            <a:r>
              <a:rPr lang="it-IT" err="1"/>
              <a:t>xxxxx</a:t>
            </a:r>
            <a:r>
              <a:rPr lang="it-IT"/>
              <a:t> </a:t>
            </a:r>
            <a:r>
              <a:rPr lang="it-IT" err="1"/>
              <a:t>xxxxxxxxxxxxxxxxxxx</a:t>
            </a:r>
            <a:r>
              <a:rPr lang="it-IT"/>
              <a:t> </a:t>
            </a:r>
            <a:r>
              <a:rPr lang="it-IT" err="1"/>
              <a:t>xxxxx</a:t>
            </a:r>
            <a:endParaRPr lang="it-IT"/>
          </a:p>
        </p:txBody>
      </p:sp>
    </p:spTree>
    <p:extLst>
      <p:ext uri="{BB962C8B-B14F-4D97-AF65-F5344CB8AC3E}">
        <p14:creationId xmlns:p14="http://schemas.microsoft.com/office/powerpoint/2010/main" val="2566725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a con punto elenco">
    <p:spTree>
      <p:nvGrpSpPr>
        <p:cNvPr id="1" name=""/>
        <p:cNvGrpSpPr/>
        <p:nvPr/>
      </p:nvGrpSpPr>
      <p:grpSpPr>
        <a:xfrm>
          <a:off x="0" y="0"/>
          <a:ext cx="0" cy="0"/>
          <a:chOff x="0" y="0"/>
          <a:chExt cx="0" cy="0"/>
        </a:xfrm>
      </p:grpSpPr>
      <p:sp>
        <p:nvSpPr>
          <p:cNvPr id="8" name="Segnaposto testo 7"/>
          <p:cNvSpPr>
            <a:spLocks noGrp="1"/>
          </p:cNvSpPr>
          <p:nvPr>
            <p:ph type="body" sz="quarter" idx="11" hasCustomPrompt="1"/>
          </p:nvPr>
        </p:nvSpPr>
        <p:spPr>
          <a:xfrm>
            <a:off x="527051" y="1412876"/>
            <a:ext cx="11233149" cy="431949"/>
          </a:xfrm>
          <a:prstGeom prst="rect">
            <a:avLst/>
          </a:prstGeom>
        </p:spPr>
        <p:txBody>
          <a:bodyPr/>
          <a:lstStyle>
            <a:lvl1pPr marL="0" indent="0">
              <a:buFont typeface="Arial" panose="020B0604020202020204" pitchFamily="34" charset="0"/>
              <a:buNone/>
              <a:defRPr sz="1800" baseline="0">
                <a:latin typeface="Century Gothic" panose="020B0502020202020204" pitchFamily="34" charset="0"/>
              </a:defRPr>
            </a:lvl1pPr>
          </a:lstStyle>
          <a:p>
            <a:pPr lvl="0"/>
            <a:r>
              <a:rPr lang="it-IT"/>
              <a:t>Fare clic per modificare il testo</a:t>
            </a:r>
          </a:p>
        </p:txBody>
      </p:sp>
      <p:sp>
        <p:nvSpPr>
          <p:cNvPr id="10" name="Segnaposto testo 9"/>
          <p:cNvSpPr>
            <a:spLocks noGrp="1"/>
          </p:cNvSpPr>
          <p:nvPr>
            <p:ph type="body" sz="quarter" idx="12" hasCustomPrompt="1"/>
          </p:nvPr>
        </p:nvSpPr>
        <p:spPr>
          <a:xfrm>
            <a:off x="527051" y="1989138"/>
            <a:ext cx="11233149" cy="3960812"/>
          </a:xfrm>
          <a:prstGeom prst="rect">
            <a:avLst/>
          </a:prstGeom>
        </p:spPr>
        <p:txBody>
          <a:bodyPr/>
          <a:lstStyle>
            <a:lvl1pPr marL="285750" indent="-285750">
              <a:buFont typeface="Wingdings" panose="05000000000000000000" pitchFamily="2" charset="2"/>
              <a:buChar char="§"/>
              <a:defRPr sz="1800" baseline="0">
                <a:latin typeface="Century Gothic" panose="020B0502020202020204" pitchFamily="34" charset="0"/>
              </a:defRPr>
            </a:lvl1pPr>
            <a:lvl2pPr marL="742950" indent="-285750">
              <a:buFont typeface="Wingdings" panose="05000000000000000000" pitchFamily="2" charset="2"/>
              <a:buChar char="§"/>
              <a:defRPr sz="1800">
                <a:latin typeface="Century Gothic" panose="020B0502020202020204" pitchFamily="34" charset="0"/>
              </a:defRPr>
            </a:lvl2pPr>
          </a:lstStyle>
          <a:p>
            <a:pPr lvl="1"/>
            <a:r>
              <a:rPr lang="it-IT"/>
              <a:t>Fare clic per modificare il punto elenco uno</a:t>
            </a:r>
          </a:p>
          <a:p>
            <a:pPr lvl="1"/>
            <a:r>
              <a:rPr lang="it-IT"/>
              <a:t>Fare clic per modificare il punto elenco due</a:t>
            </a:r>
          </a:p>
          <a:p>
            <a:pPr lvl="1"/>
            <a:r>
              <a:rPr lang="it-IT"/>
              <a:t>Fare clic per modificare il punto elenco tre</a:t>
            </a:r>
          </a:p>
          <a:p>
            <a:pPr lvl="1"/>
            <a:r>
              <a:rPr lang="it-IT"/>
              <a:t>Fare clic per modificare il punto elenco quattro</a:t>
            </a:r>
          </a:p>
        </p:txBody>
      </p:sp>
      <p:sp>
        <p:nvSpPr>
          <p:cNvPr id="16" name="Segnaposto testo 7"/>
          <p:cNvSpPr>
            <a:spLocks noGrp="1"/>
          </p:cNvSpPr>
          <p:nvPr>
            <p:ph type="body" sz="quarter" idx="10" hasCustomPrompt="1"/>
          </p:nvPr>
        </p:nvSpPr>
        <p:spPr>
          <a:xfrm>
            <a:off x="527051" y="476674"/>
            <a:ext cx="11233149" cy="648071"/>
          </a:xfrm>
          <a:prstGeom prst="rect">
            <a:avLst/>
          </a:prstGeom>
        </p:spPr>
        <p:txBody>
          <a:bodyPr/>
          <a:lstStyle>
            <a:lvl1pPr marL="0" indent="0">
              <a:lnSpc>
                <a:spcPts val="2200"/>
              </a:lnSpc>
              <a:buNone/>
              <a:defRPr sz="2400" b="1">
                <a:solidFill>
                  <a:srgbClr val="BD2B0B"/>
                </a:solidFill>
                <a:latin typeface="Century Gothic" panose="020B0502020202020204" pitchFamily="34" charset="0"/>
              </a:defRPr>
            </a:lvl1pPr>
          </a:lstStyle>
          <a:p>
            <a:pPr lvl="0"/>
            <a:r>
              <a:rPr lang="it-IT"/>
              <a:t>Fare clic per modificare il titolo della diapositiva</a:t>
            </a:r>
          </a:p>
        </p:txBody>
      </p:sp>
    </p:spTree>
    <p:extLst>
      <p:ext uri="{BB962C8B-B14F-4D97-AF65-F5344CB8AC3E}">
        <p14:creationId xmlns:p14="http://schemas.microsoft.com/office/powerpoint/2010/main" val="3043853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semplice">
    <p:spTree>
      <p:nvGrpSpPr>
        <p:cNvPr id="1" name=""/>
        <p:cNvGrpSpPr/>
        <p:nvPr/>
      </p:nvGrpSpPr>
      <p:grpSpPr>
        <a:xfrm>
          <a:off x="0" y="0"/>
          <a:ext cx="0" cy="0"/>
          <a:chOff x="0" y="0"/>
          <a:chExt cx="0" cy="0"/>
        </a:xfrm>
      </p:grpSpPr>
      <p:sp>
        <p:nvSpPr>
          <p:cNvPr id="7" name="Segnaposto testo 7"/>
          <p:cNvSpPr>
            <a:spLocks noGrp="1"/>
          </p:cNvSpPr>
          <p:nvPr>
            <p:ph type="body" sz="quarter" idx="10" hasCustomPrompt="1"/>
          </p:nvPr>
        </p:nvSpPr>
        <p:spPr>
          <a:xfrm>
            <a:off x="527051" y="476674"/>
            <a:ext cx="11233149" cy="648071"/>
          </a:xfrm>
          <a:prstGeom prst="rect">
            <a:avLst/>
          </a:prstGeom>
        </p:spPr>
        <p:txBody>
          <a:bodyPr/>
          <a:lstStyle>
            <a:lvl1pPr marL="0" indent="0">
              <a:lnSpc>
                <a:spcPts val="2200"/>
              </a:lnSpc>
              <a:buNone/>
              <a:defRPr sz="2400" b="1">
                <a:solidFill>
                  <a:srgbClr val="BD2B0B"/>
                </a:solidFill>
                <a:latin typeface="Century Gothic" panose="020B0502020202020204" pitchFamily="34" charset="0"/>
              </a:defRPr>
            </a:lvl1pPr>
          </a:lstStyle>
          <a:p>
            <a:pPr lvl="0"/>
            <a:r>
              <a:rPr lang="it-IT"/>
              <a:t>Fare clic per modificare il titolo della diapositiva</a:t>
            </a:r>
          </a:p>
        </p:txBody>
      </p:sp>
      <p:sp>
        <p:nvSpPr>
          <p:cNvPr id="9" name="Segnaposto testo 7"/>
          <p:cNvSpPr>
            <a:spLocks noGrp="1"/>
          </p:cNvSpPr>
          <p:nvPr>
            <p:ph type="body" sz="quarter" idx="11" hasCustomPrompt="1"/>
          </p:nvPr>
        </p:nvSpPr>
        <p:spPr>
          <a:xfrm>
            <a:off x="527051" y="1412875"/>
            <a:ext cx="11233149" cy="4608413"/>
          </a:xfrm>
          <a:prstGeom prst="rect">
            <a:avLst/>
          </a:prstGeom>
        </p:spPr>
        <p:txBody>
          <a:bodyPr/>
          <a:lstStyle>
            <a:lvl1pPr marL="0" indent="0">
              <a:buFont typeface="Arial" panose="020B0604020202020204" pitchFamily="34" charset="0"/>
              <a:buNone/>
              <a:defRPr sz="1800" baseline="0">
                <a:latin typeface="Century Gothic" panose="020B0502020202020204" pitchFamily="34" charset="0"/>
              </a:defRPr>
            </a:lvl1pPr>
          </a:lstStyle>
          <a:p>
            <a:pPr lvl="0"/>
            <a:r>
              <a:rPr lang="it-IT"/>
              <a:t>Fare clic per modificare il testo</a:t>
            </a:r>
          </a:p>
        </p:txBody>
      </p:sp>
    </p:spTree>
    <p:extLst>
      <p:ext uri="{BB962C8B-B14F-4D97-AF65-F5344CB8AC3E}">
        <p14:creationId xmlns:p14="http://schemas.microsoft.com/office/powerpoint/2010/main" val="3418157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a con grafico">
    <p:spTree>
      <p:nvGrpSpPr>
        <p:cNvPr id="1" name=""/>
        <p:cNvGrpSpPr/>
        <p:nvPr/>
      </p:nvGrpSpPr>
      <p:grpSpPr>
        <a:xfrm>
          <a:off x="0" y="0"/>
          <a:ext cx="0" cy="0"/>
          <a:chOff x="0" y="0"/>
          <a:chExt cx="0" cy="0"/>
        </a:xfrm>
      </p:grpSpPr>
      <p:sp>
        <p:nvSpPr>
          <p:cNvPr id="9" name="Segnaposto grafico 8"/>
          <p:cNvSpPr>
            <a:spLocks noGrp="1"/>
          </p:cNvSpPr>
          <p:nvPr>
            <p:ph type="chart" sz="quarter" idx="10" hasCustomPrompt="1"/>
          </p:nvPr>
        </p:nvSpPr>
        <p:spPr>
          <a:xfrm>
            <a:off x="911026" y="2781300"/>
            <a:ext cx="10369551" cy="3024188"/>
          </a:xfrm>
          <a:prstGeom prst="rect">
            <a:avLst/>
          </a:prstGeom>
        </p:spPr>
        <p:txBody>
          <a:bodyPr/>
          <a:lstStyle>
            <a:lvl1pPr marL="0" indent="0">
              <a:buNone/>
              <a:defRPr sz="1800" baseline="0">
                <a:latin typeface="Century Gothic" panose="020B0502020202020204" pitchFamily="34" charset="0"/>
              </a:defRPr>
            </a:lvl1pPr>
          </a:lstStyle>
          <a:p>
            <a:r>
              <a:rPr lang="it-IT"/>
              <a:t>Fare clic sull’icona per inserire un grafico</a:t>
            </a:r>
          </a:p>
        </p:txBody>
      </p:sp>
      <p:sp>
        <p:nvSpPr>
          <p:cNvPr id="11" name="Segnaposto testo 7"/>
          <p:cNvSpPr>
            <a:spLocks noGrp="1"/>
          </p:cNvSpPr>
          <p:nvPr>
            <p:ph type="body" sz="quarter" idx="12" hasCustomPrompt="1"/>
          </p:nvPr>
        </p:nvSpPr>
        <p:spPr>
          <a:xfrm>
            <a:off x="527051" y="1412876"/>
            <a:ext cx="11233149" cy="431949"/>
          </a:xfrm>
          <a:prstGeom prst="rect">
            <a:avLst/>
          </a:prstGeom>
        </p:spPr>
        <p:txBody>
          <a:bodyPr/>
          <a:lstStyle>
            <a:lvl1pPr marL="0" indent="0">
              <a:buFont typeface="Arial" panose="020B0604020202020204" pitchFamily="34" charset="0"/>
              <a:buNone/>
              <a:defRPr sz="1800" baseline="0">
                <a:latin typeface="Century Gothic" panose="020B0502020202020204" pitchFamily="34" charset="0"/>
              </a:defRPr>
            </a:lvl1pPr>
          </a:lstStyle>
          <a:p>
            <a:pPr lvl="0"/>
            <a:r>
              <a:rPr lang="it-IT"/>
              <a:t>Fare clic per modificare il testo</a:t>
            </a:r>
          </a:p>
        </p:txBody>
      </p:sp>
      <p:sp>
        <p:nvSpPr>
          <p:cNvPr id="6" name="Segnaposto testo 7"/>
          <p:cNvSpPr>
            <a:spLocks noGrp="1"/>
          </p:cNvSpPr>
          <p:nvPr>
            <p:ph type="body" sz="quarter" idx="13" hasCustomPrompt="1"/>
          </p:nvPr>
        </p:nvSpPr>
        <p:spPr>
          <a:xfrm>
            <a:off x="527051" y="476674"/>
            <a:ext cx="11233149" cy="648071"/>
          </a:xfrm>
          <a:prstGeom prst="rect">
            <a:avLst/>
          </a:prstGeom>
        </p:spPr>
        <p:txBody>
          <a:bodyPr/>
          <a:lstStyle>
            <a:lvl1pPr marL="0" indent="0">
              <a:lnSpc>
                <a:spcPts val="2200"/>
              </a:lnSpc>
              <a:buNone/>
              <a:defRPr sz="2400" b="1">
                <a:solidFill>
                  <a:srgbClr val="BD2B0B"/>
                </a:solidFill>
                <a:latin typeface="Century Gothic" panose="020B0502020202020204" pitchFamily="34" charset="0"/>
              </a:defRPr>
            </a:lvl1pPr>
          </a:lstStyle>
          <a:p>
            <a:pPr lvl="0"/>
            <a:r>
              <a:rPr lang="it-IT"/>
              <a:t>Fare clic per modificare il titolo della diapositiva</a:t>
            </a:r>
          </a:p>
        </p:txBody>
      </p:sp>
    </p:spTree>
    <p:extLst>
      <p:ext uri="{BB962C8B-B14F-4D97-AF65-F5344CB8AC3E}">
        <p14:creationId xmlns:p14="http://schemas.microsoft.com/office/powerpoint/2010/main" val="555833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con immagine">
    <p:spTree>
      <p:nvGrpSpPr>
        <p:cNvPr id="1" name=""/>
        <p:cNvGrpSpPr/>
        <p:nvPr/>
      </p:nvGrpSpPr>
      <p:grpSpPr>
        <a:xfrm>
          <a:off x="0" y="0"/>
          <a:ext cx="0" cy="0"/>
          <a:chOff x="0" y="0"/>
          <a:chExt cx="0" cy="0"/>
        </a:xfrm>
      </p:grpSpPr>
      <p:sp>
        <p:nvSpPr>
          <p:cNvPr id="11" name="Segnaposto immagine 10"/>
          <p:cNvSpPr>
            <a:spLocks noGrp="1"/>
          </p:cNvSpPr>
          <p:nvPr>
            <p:ph type="pic" sz="quarter" idx="10" hasCustomPrompt="1"/>
          </p:nvPr>
        </p:nvSpPr>
        <p:spPr>
          <a:xfrm>
            <a:off x="1534584" y="1700809"/>
            <a:ext cx="9122833" cy="4105275"/>
          </a:xfrm>
          <a:prstGeom prst="rect">
            <a:avLst/>
          </a:prstGeom>
        </p:spPr>
        <p:txBody>
          <a:bodyPr/>
          <a:lstStyle>
            <a:lvl1pPr marL="0" indent="0">
              <a:buNone/>
              <a:defRPr sz="1800">
                <a:latin typeface="Century Gothic" panose="020B0502020202020204" pitchFamily="34" charset="0"/>
              </a:defRPr>
            </a:lvl1pPr>
          </a:lstStyle>
          <a:p>
            <a:r>
              <a:rPr lang="it-IT"/>
              <a:t>Fare clic sull’icona per inserire un’immagine</a:t>
            </a:r>
          </a:p>
        </p:txBody>
      </p:sp>
      <p:sp>
        <p:nvSpPr>
          <p:cNvPr id="5" name="Segnaposto testo 7"/>
          <p:cNvSpPr>
            <a:spLocks noGrp="1"/>
          </p:cNvSpPr>
          <p:nvPr>
            <p:ph type="body" sz="quarter" idx="11" hasCustomPrompt="1"/>
          </p:nvPr>
        </p:nvSpPr>
        <p:spPr>
          <a:xfrm>
            <a:off x="527051" y="476674"/>
            <a:ext cx="11233149" cy="648071"/>
          </a:xfrm>
          <a:prstGeom prst="rect">
            <a:avLst/>
          </a:prstGeom>
        </p:spPr>
        <p:txBody>
          <a:bodyPr/>
          <a:lstStyle>
            <a:lvl1pPr marL="0" indent="0">
              <a:lnSpc>
                <a:spcPts val="2200"/>
              </a:lnSpc>
              <a:buNone/>
              <a:defRPr sz="2400" b="1">
                <a:solidFill>
                  <a:srgbClr val="BD2B0B"/>
                </a:solidFill>
                <a:latin typeface="Century Gothic" panose="020B0502020202020204" pitchFamily="34" charset="0"/>
              </a:defRPr>
            </a:lvl1pPr>
          </a:lstStyle>
          <a:p>
            <a:pPr lvl="0"/>
            <a:r>
              <a:rPr lang="it-IT"/>
              <a:t>Fare clic per modificare il titolo della diapositiva</a:t>
            </a:r>
          </a:p>
        </p:txBody>
      </p:sp>
    </p:spTree>
    <p:extLst>
      <p:ext uri="{BB962C8B-B14F-4D97-AF65-F5344CB8AC3E}">
        <p14:creationId xmlns:p14="http://schemas.microsoft.com/office/powerpoint/2010/main" val="3970258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 CHIUSURA">
    <p:spTree>
      <p:nvGrpSpPr>
        <p:cNvPr id="1" name=""/>
        <p:cNvGrpSpPr/>
        <p:nvPr/>
      </p:nvGrpSpPr>
      <p:grpSpPr>
        <a:xfrm>
          <a:off x="0" y="0"/>
          <a:ext cx="0" cy="0"/>
          <a:chOff x="0" y="0"/>
          <a:chExt cx="0" cy="0"/>
        </a:xfrm>
      </p:grpSpPr>
      <p:sp>
        <p:nvSpPr>
          <p:cNvPr id="8" name="Segnaposto testo 7"/>
          <p:cNvSpPr>
            <a:spLocks noGrp="1"/>
          </p:cNvSpPr>
          <p:nvPr>
            <p:ph type="body" sz="quarter" idx="10" hasCustomPrompt="1"/>
          </p:nvPr>
        </p:nvSpPr>
        <p:spPr>
          <a:xfrm>
            <a:off x="1487488" y="2780928"/>
            <a:ext cx="9217024" cy="432370"/>
          </a:xfrm>
          <a:prstGeom prst="rect">
            <a:avLst/>
          </a:prstGeom>
        </p:spPr>
        <p:txBody>
          <a:bodyPr/>
          <a:lstStyle>
            <a:lvl1pPr marL="0" indent="0" algn="ctr">
              <a:buFontTx/>
              <a:buNone/>
              <a:defRPr sz="2000" b="1">
                <a:solidFill>
                  <a:schemeClr val="bg1"/>
                </a:solidFill>
                <a:latin typeface="Century Gothic" panose="020B0502020202020204" pitchFamily="34" charset="0"/>
              </a:defRPr>
            </a:lvl1pPr>
          </a:lstStyle>
          <a:p>
            <a:pPr lvl="0"/>
            <a:r>
              <a:rPr lang="it-IT"/>
              <a:t>Nome Cognome</a:t>
            </a:r>
          </a:p>
        </p:txBody>
      </p:sp>
      <p:sp>
        <p:nvSpPr>
          <p:cNvPr id="13" name="Segnaposto testo 12"/>
          <p:cNvSpPr>
            <a:spLocks noGrp="1"/>
          </p:cNvSpPr>
          <p:nvPr>
            <p:ph type="body" sz="quarter" idx="11" hasCustomPrompt="1"/>
          </p:nvPr>
        </p:nvSpPr>
        <p:spPr>
          <a:xfrm>
            <a:off x="1439483" y="3573017"/>
            <a:ext cx="9313035" cy="936103"/>
          </a:xfrm>
          <a:prstGeom prst="rect">
            <a:avLst/>
          </a:prstGeom>
        </p:spPr>
        <p:txBody>
          <a:bodyPr/>
          <a:lstStyle>
            <a:lvl1pPr marL="0" indent="0" algn="ctr">
              <a:buFontTx/>
              <a:buNone/>
              <a:defRPr sz="1600">
                <a:solidFill>
                  <a:schemeClr val="bg1"/>
                </a:solidFill>
                <a:latin typeface="Century Gothic" panose="020B0502020202020204" pitchFamily="34" charset="0"/>
              </a:defRPr>
            </a:lvl1pPr>
          </a:lstStyle>
          <a:p>
            <a:pPr lvl="0"/>
            <a:r>
              <a:rPr lang="it-IT"/>
              <a:t>Struttura</a:t>
            </a:r>
          </a:p>
        </p:txBody>
      </p:sp>
      <p:sp>
        <p:nvSpPr>
          <p:cNvPr id="16" name="Segnaposto testo 15"/>
          <p:cNvSpPr>
            <a:spLocks noGrp="1"/>
          </p:cNvSpPr>
          <p:nvPr>
            <p:ph type="body" sz="quarter" idx="12" hasCustomPrompt="1"/>
          </p:nvPr>
        </p:nvSpPr>
        <p:spPr>
          <a:xfrm>
            <a:off x="1390651" y="4725144"/>
            <a:ext cx="9410700" cy="1440160"/>
          </a:xfrm>
          <a:prstGeom prst="rect">
            <a:avLst/>
          </a:prstGeom>
        </p:spPr>
        <p:txBody>
          <a:bodyPr/>
          <a:lstStyle>
            <a:lvl1pPr marL="0" indent="0" algn="ctr">
              <a:buFontTx/>
              <a:buNone/>
              <a:defRPr sz="1300" b="0">
                <a:solidFill>
                  <a:schemeClr val="bg1"/>
                </a:solidFill>
                <a:latin typeface="Century Gothic" panose="020B0502020202020204" pitchFamily="34" charset="0"/>
              </a:defRPr>
            </a:lvl1pPr>
          </a:lstStyle>
          <a:p>
            <a:pPr lvl="0"/>
            <a:r>
              <a:rPr lang="it-IT"/>
              <a:t>nome.cognome@unibo.it</a:t>
            </a:r>
          </a:p>
          <a:p>
            <a:pPr lvl="0"/>
            <a:r>
              <a:rPr lang="it-IT"/>
              <a:t>051 20 99982</a:t>
            </a:r>
          </a:p>
        </p:txBody>
      </p:sp>
    </p:spTree>
    <p:extLst>
      <p:ext uri="{BB962C8B-B14F-4D97-AF65-F5344CB8AC3E}">
        <p14:creationId xmlns:p14="http://schemas.microsoft.com/office/powerpoint/2010/main" val="42494506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ttangolo 8"/>
          <p:cNvSpPr/>
          <p:nvPr userDrawn="1"/>
        </p:nvSpPr>
        <p:spPr>
          <a:xfrm>
            <a:off x="0" y="0"/>
            <a:ext cx="12192000" cy="6858000"/>
          </a:xfrm>
          <a:prstGeom prst="rect">
            <a:avLst/>
          </a:prstGeom>
          <a:solidFill>
            <a:srgbClr val="BD2B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800"/>
          </a:p>
        </p:txBody>
      </p:sp>
      <p:pic>
        <p:nvPicPr>
          <p:cNvPr id="10" name="Immagin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2715" y="1700808"/>
            <a:ext cx="2538989" cy="2538989"/>
          </a:xfrm>
          <a:prstGeom prst="rect">
            <a:avLst/>
          </a:prstGeom>
        </p:spPr>
      </p:pic>
      <p:cxnSp>
        <p:nvCxnSpPr>
          <p:cNvPr id="12" name="Connettore 1 11"/>
          <p:cNvCxnSpPr/>
          <p:nvPr userDrawn="1"/>
        </p:nvCxnSpPr>
        <p:spPr>
          <a:xfrm>
            <a:off x="4367808" y="188640"/>
            <a:ext cx="0" cy="640871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3657427"/>
      </p:ext>
    </p:extLst>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ttangolo 7"/>
          <p:cNvSpPr/>
          <p:nvPr userDrawn="1"/>
        </p:nvSpPr>
        <p:spPr>
          <a:xfrm>
            <a:off x="8773683" y="6173407"/>
            <a:ext cx="3215680" cy="548680"/>
          </a:xfrm>
          <a:prstGeom prst="rect">
            <a:avLst/>
          </a:prstGeom>
          <a:solidFill>
            <a:srgbClr val="BD2B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800"/>
          </a:p>
        </p:txBody>
      </p:sp>
      <p:pic>
        <p:nvPicPr>
          <p:cNvPr id="9" name="Immagine 8"/>
          <p:cNvPicPr>
            <a:picLocks noChangeAspect="1"/>
          </p:cNvPicPr>
          <p:nvPr userDrawn="1"/>
        </p:nvPicPr>
        <p:blipFill rotWithShape="1">
          <a:blip r:embed="rId6" cstate="print">
            <a:extLst>
              <a:ext uri="{28A0092B-C50C-407E-A947-70E740481C1C}">
                <a14:useLocalDpi xmlns:a14="http://schemas.microsoft.com/office/drawing/2010/main" val="0"/>
              </a:ext>
            </a:extLst>
          </a:blip>
          <a:stretch/>
        </p:blipFill>
        <p:spPr>
          <a:xfrm>
            <a:off x="9416972" y="6165304"/>
            <a:ext cx="2007620" cy="548666"/>
          </a:xfrm>
          <a:prstGeom prst="rect">
            <a:avLst/>
          </a:prstGeom>
        </p:spPr>
      </p:pic>
    </p:spTree>
    <p:extLst>
      <p:ext uri="{BB962C8B-B14F-4D97-AF65-F5344CB8AC3E}">
        <p14:creationId xmlns:p14="http://schemas.microsoft.com/office/powerpoint/2010/main" val="3570652833"/>
      </p:ext>
    </p:extLst>
  </p:cSld>
  <p:clrMap bg1="lt1" tx1="dk1" bg2="lt2" tx2="dk2" accent1="accent1" accent2="accent2" accent3="accent3" accent4="accent4" accent5="accent5" accent6="accent6" hlink="hlink" folHlink="folHlink"/>
  <p:sldLayoutIdLst>
    <p:sldLayoutId id="2147483670" r:id="rId1"/>
    <p:sldLayoutId id="2147483661" r:id="rId2"/>
    <p:sldLayoutId id="2147483667" r:id="rId3"/>
    <p:sldLayoutId id="2147483669"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ttangolo 6"/>
          <p:cNvSpPr/>
          <p:nvPr userDrawn="1"/>
        </p:nvSpPr>
        <p:spPr>
          <a:xfrm>
            <a:off x="0" y="0"/>
            <a:ext cx="12192000" cy="6858000"/>
          </a:xfrm>
          <a:prstGeom prst="rect">
            <a:avLst/>
          </a:prstGeom>
          <a:solidFill>
            <a:srgbClr val="BD2B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1800"/>
          </a:p>
        </p:txBody>
      </p:sp>
      <p:pic>
        <p:nvPicPr>
          <p:cNvPr id="8" name="Immagin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826505" y="116632"/>
            <a:ext cx="2538989" cy="2538989"/>
          </a:xfrm>
          <a:prstGeom prst="rect">
            <a:avLst/>
          </a:prstGeom>
        </p:spPr>
      </p:pic>
      <p:sp>
        <p:nvSpPr>
          <p:cNvPr id="9" name="CasellaDiTesto 8"/>
          <p:cNvSpPr txBox="1"/>
          <p:nvPr userDrawn="1"/>
        </p:nvSpPr>
        <p:spPr>
          <a:xfrm>
            <a:off x="4175787" y="6453336"/>
            <a:ext cx="3840427" cy="338554"/>
          </a:xfrm>
          <a:prstGeom prst="rect">
            <a:avLst/>
          </a:prstGeom>
          <a:noFill/>
        </p:spPr>
        <p:txBody>
          <a:bodyPr wrap="square" rtlCol="0">
            <a:spAutoFit/>
          </a:bodyPr>
          <a:lstStyle/>
          <a:p>
            <a:pPr algn="ctr"/>
            <a:r>
              <a:rPr lang="it-IT" sz="1600">
                <a:solidFill>
                  <a:schemeClr val="bg1"/>
                </a:solidFill>
              </a:rPr>
              <a:t>www.unibo.it</a:t>
            </a:r>
          </a:p>
        </p:txBody>
      </p:sp>
    </p:spTree>
    <p:extLst>
      <p:ext uri="{BB962C8B-B14F-4D97-AF65-F5344CB8AC3E}">
        <p14:creationId xmlns:p14="http://schemas.microsoft.com/office/powerpoint/2010/main" val="1868398845"/>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testo 1"/>
          <p:cNvSpPr>
            <a:spLocks noGrp="1"/>
          </p:cNvSpPr>
          <p:nvPr>
            <p:ph type="body" sz="quarter" idx="10"/>
          </p:nvPr>
        </p:nvSpPr>
        <p:spPr/>
        <p:txBody>
          <a:bodyPr/>
          <a:lstStyle/>
          <a:p>
            <a:r>
              <a:rPr lang="en-US" sz="4000"/>
              <a:t>Brake Caliper DH 020 FHM</a:t>
            </a:r>
            <a:endParaRPr lang="it-IT" sz="4000"/>
          </a:p>
        </p:txBody>
      </p:sp>
      <p:sp>
        <p:nvSpPr>
          <p:cNvPr id="4" name="Segnaposto testo 1">
            <a:extLst>
              <a:ext uri="{FF2B5EF4-FFF2-40B4-BE49-F238E27FC236}">
                <a16:creationId xmlns:a16="http://schemas.microsoft.com/office/drawing/2014/main" id="{585774CB-91B5-C52A-58FC-5F46D3143AD1}"/>
              </a:ext>
            </a:extLst>
          </p:cNvPr>
          <p:cNvSpPr txBox="1">
            <a:spLocks/>
          </p:cNvSpPr>
          <p:nvPr/>
        </p:nvSpPr>
        <p:spPr>
          <a:xfrm>
            <a:off x="6816080" y="5877272"/>
            <a:ext cx="5472608" cy="1152128"/>
          </a:xfrm>
          <a:prstGeom prst="rect">
            <a:avLst/>
          </a:prstGeom>
        </p:spPr>
        <p:txBody>
          <a:bodyPr anchor="ctr" anchorCtr="0"/>
          <a:lstStyle>
            <a:lvl1pPr marL="0" indent="0" algn="l" defTabSz="914400" rtl="0" eaLnBrk="1" latinLnBrk="0" hangingPunct="1">
              <a:spcBef>
                <a:spcPct val="20000"/>
              </a:spcBef>
              <a:buFont typeface="Arial" panose="020B0604020202020204" pitchFamily="34" charset="0"/>
              <a:buNone/>
              <a:defRPr sz="3600" b="1" kern="1200">
                <a:solidFill>
                  <a:schemeClr val="bg1"/>
                </a:solidFill>
                <a:latin typeface="Century Gothic" panose="020B0502020202020204" pitchFamily="34" charset="0"/>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it-IT" sz="1200"/>
              <a:t>KAMTA DILAN - LIPPI LORENZO - QUATTRINI MICHAEL - SELIMI ALMEN</a:t>
            </a:r>
          </a:p>
        </p:txBody>
      </p:sp>
    </p:spTree>
    <p:extLst>
      <p:ext uri="{BB962C8B-B14F-4D97-AF65-F5344CB8AC3E}">
        <p14:creationId xmlns:p14="http://schemas.microsoft.com/office/powerpoint/2010/main" val="3085230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sellaDiTesto 5">
            <a:extLst>
              <a:ext uri="{FF2B5EF4-FFF2-40B4-BE49-F238E27FC236}">
                <a16:creationId xmlns:a16="http://schemas.microsoft.com/office/drawing/2014/main" id="{F29B1E25-BA05-EED5-63DC-93B3BABA4D8C}"/>
              </a:ext>
            </a:extLst>
          </p:cNvPr>
          <p:cNvSpPr txBox="1"/>
          <p:nvPr/>
        </p:nvSpPr>
        <p:spPr>
          <a:xfrm>
            <a:off x="335360" y="1059619"/>
            <a:ext cx="7416824" cy="1938992"/>
          </a:xfrm>
          <a:prstGeom prst="rect">
            <a:avLst/>
          </a:prstGeom>
          <a:noFill/>
        </p:spPr>
        <p:txBody>
          <a:bodyPr wrap="square" lIns="91440" tIns="45720" rIns="91440" bIns="45720" anchor="t">
            <a:spAutoFit/>
          </a:bodyPr>
          <a:lstStyle/>
          <a:p>
            <a:pPr algn="just"/>
            <a:r>
              <a:rPr lang="it-IT" sz="2000" dirty="0"/>
              <a:t>Il </a:t>
            </a:r>
            <a:r>
              <a:rPr lang="it-IT" sz="2000" b="1" dirty="0"/>
              <a:t>DH 020 FHM</a:t>
            </a:r>
            <a:r>
              <a:rPr lang="it-IT" sz="2000" dirty="0"/>
              <a:t> è un freno "elastico" a cinghia gommata, utilizzato principalmente in applicazioni industriali per garantire il bloccaggio sicuro dell’albero rotante. Fa parte della gamma di freni "a molla", che possono essere definiti normalmente chiusi, progettati per garantire </a:t>
            </a:r>
            <a:r>
              <a:rPr lang="it-IT" sz="2000" b="1" dirty="0"/>
              <a:t>elevata affidabilità</a:t>
            </a:r>
            <a:r>
              <a:rPr lang="it-IT" sz="2000" dirty="0"/>
              <a:t>, </a:t>
            </a:r>
            <a:r>
              <a:rPr lang="it-IT" sz="2000" b="1" dirty="0"/>
              <a:t>rapidità di intervento</a:t>
            </a:r>
            <a:r>
              <a:rPr lang="it-IT" sz="2000" dirty="0"/>
              <a:t> e </a:t>
            </a:r>
            <a:r>
              <a:rPr lang="it-IT" sz="2000" b="1" dirty="0"/>
              <a:t>durata nel tempo</a:t>
            </a:r>
            <a:r>
              <a:rPr lang="it-IT" sz="2000" dirty="0"/>
              <a:t>, anche in ambienti di lavoro gravosi.</a:t>
            </a:r>
            <a:endParaRPr lang="en-US" dirty="0"/>
          </a:p>
        </p:txBody>
      </p:sp>
      <p:pic>
        <p:nvPicPr>
          <p:cNvPr id="3" name="Immagine 2" descr="Immagine che contiene macchina&#10;&#10;Il contenuto generato dall'IA potrebbe non essere corretto.">
            <a:extLst>
              <a:ext uri="{FF2B5EF4-FFF2-40B4-BE49-F238E27FC236}">
                <a16:creationId xmlns:a16="http://schemas.microsoft.com/office/drawing/2014/main" id="{506DEDB1-34CC-057C-4DF9-F5551AB97F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0793" y="1611222"/>
            <a:ext cx="3858301" cy="3425276"/>
          </a:xfrm>
          <a:prstGeom prst="rect">
            <a:avLst/>
          </a:prstGeom>
        </p:spPr>
      </p:pic>
      <p:sp>
        <p:nvSpPr>
          <p:cNvPr id="5" name="CasellaDiTesto 4">
            <a:extLst>
              <a:ext uri="{FF2B5EF4-FFF2-40B4-BE49-F238E27FC236}">
                <a16:creationId xmlns:a16="http://schemas.microsoft.com/office/drawing/2014/main" id="{E6809EBA-41F1-178A-62AA-F0ED2BC43656}"/>
              </a:ext>
            </a:extLst>
          </p:cNvPr>
          <p:cNvSpPr txBox="1"/>
          <p:nvPr/>
        </p:nvSpPr>
        <p:spPr>
          <a:xfrm>
            <a:off x="335360" y="436022"/>
            <a:ext cx="6096000" cy="646331"/>
          </a:xfrm>
          <a:prstGeom prst="rect">
            <a:avLst/>
          </a:prstGeom>
          <a:noFill/>
        </p:spPr>
        <p:txBody>
          <a:bodyPr wrap="square">
            <a:spAutoFit/>
          </a:bodyPr>
          <a:lstStyle/>
          <a:p>
            <a:r>
              <a:rPr lang="it-IT" sz="3600" b="1">
                <a:solidFill>
                  <a:srgbClr val="BD2B0B"/>
                </a:solidFill>
              </a:rPr>
              <a:t>DH 020 FHM</a:t>
            </a:r>
            <a:r>
              <a:rPr lang="it-IT" sz="3600">
                <a:solidFill>
                  <a:srgbClr val="BD2B0B"/>
                </a:solidFill>
              </a:rPr>
              <a:t> </a:t>
            </a:r>
          </a:p>
        </p:txBody>
      </p:sp>
      <p:sp>
        <p:nvSpPr>
          <p:cNvPr id="8" name="CasellaDiTesto 7">
            <a:extLst>
              <a:ext uri="{FF2B5EF4-FFF2-40B4-BE49-F238E27FC236}">
                <a16:creationId xmlns:a16="http://schemas.microsoft.com/office/drawing/2014/main" id="{7D34CCC8-A599-18D5-E7DF-62B3EF2AFE8B}"/>
              </a:ext>
            </a:extLst>
          </p:cNvPr>
          <p:cNvSpPr txBox="1"/>
          <p:nvPr/>
        </p:nvSpPr>
        <p:spPr>
          <a:xfrm>
            <a:off x="331041" y="3554592"/>
            <a:ext cx="7679461" cy="2862322"/>
          </a:xfrm>
          <a:prstGeom prst="rect">
            <a:avLst/>
          </a:prstGeom>
          <a:noFill/>
        </p:spPr>
        <p:txBody>
          <a:bodyPr wrap="square" lIns="91440" tIns="45720" rIns="91440" bIns="45720" anchor="t">
            <a:spAutoFit/>
          </a:bodyPr>
          <a:lstStyle/>
          <a:p>
            <a:pPr algn="just">
              <a:buFont typeface="Arial" panose="020B0604020202020204" pitchFamily="34" charset="0"/>
              <a:buChar char="•"/>
            </a:pPr>
            <a:r>
              <a:rPr lang="it-IT" sz="2000" dirty="0"/>
              <a:t> Quando </a:t>
            </a:r>
            <a:r>
              <a:rPr lang="it-IT" sz="2000" b="1" dirty="0"/>
              <a:t>l’alimentazione è disattivata</a:t>
            </a:r>
            <a:r>
              <a:rPr lang="it-IT" sz="2000" dirty="0"/>
              <a:t>, </a:t>
            </a:r>
            <a:r>
              <a:rPr lang="it-IT" sz="2000" b="1" dirty="0"/>
              <a:t>la cinghia </a:t>
            </a:r>
            <a:r>
              <a:rPr lang="it-IT" sz="2000" b="1" dirty="0" err="1"/>
              <a:t>pre</a:t>
            </a:r>
            <a:r>
              <a:rPr lang="it-IT" sz="2000" b="1" dirty="0"/>
              <a:t>-caricata</a:t>
            </a:r>
            <a:r>
              <a:rPr lang="it-IT" sz="2000" dirty="0"/>
              <a:t> esercita una forza che mantiene le pastiglie a contatto con l'albero rotante.</a:t>
            </a:r>
            <a:endParaRPr lang="en-US" dirty="0"/>
          </a:p>
          <a:p>
            <a:pPr algn="just">
              <a:buFont typeface="Arial" panose="020B0604020202020204" pitchFamily="34" charset="0"/>
              <a:buChar char="•"/>
            </a:pPr>
            <a:r>
              <a:rPr lang="it-IT" sz="2000" dirty="0"/>
              <a:t> Quando il freno viene attuato, questo si apre e le pastiglie si mantengono distanti dall'albero rotante, grazie poi alla cinghia, quando il freno è </a:t>
            </a:r>
            <a:r>
              <a:rPr lang="it-IT" sz="2000" dirty="0" err="1"/>
              <a:t>disattuato</a:t>
            </a:r>
            <a:r>
              <a:rPr lang="it-IT" sz="2000" dirty="0"/>
              <a:t>, questo viene riportato nella posizione di chiusura, a contatto con l'albero.</a:t>
            </a:r>
          </a:p>
          <a:p>
            <a:pPr algn="just"/>
            <a:r>
              <a:rPr lang="it-IT" sz="2000" dirty="0">
                <a:ea typeface="Calibri"/>
                <a:cs typeface="Calibri"/>
              </a:rPr>
              <a:t>Un esempio di utilizzo si può avere all’interno di un ascensore, dove il freno garantisce sicurezza e stabilità del sistema in caso di mancata alimentazione.</a:t>
            </a:r>
          </a:p>
        </p:txBody>
      </p:sp>
      <p:sp>
        <p:nvSpPr>
          <p:cNvPr id="9" name="CasellaDiTesto 8">
            <a:extLst>
              <a:ext uri="{FF2B5EF4-FFF2-40B4-BE49-F238E27FC236}">
                <a16:creationId xmlns:a16="http://schemas.microsoft.com/office/drawing/2014/main" id="{A867DE2B-0C5A-C46E-7056-82629D56E9DB}"/>
              </a:ext>
            </a:extLst>
          </p:cNvPr>
          <p:cNvSpPr txBox="1"/>
          <p:nvPr/>
        </p:nvSpPr>
        <p:spPr>
          <a:xfrm>
            <a:off x="335360" y="3086243"/>
            <a:ext cx="6096000" cy="461665"/>
          </a:xfrm>
          <a:prstGeom prst="rect">
            <a:avLst/>
          </a:prstGeom>
          <a:noFill/>
        </p:spPr>
        <p:txBody>
          <a:bodyPr wrap="square">
            <a:spAutoFit/>
          </a:bodyPr>
          <a:lstStyle/>
          <a:p>
            <a:r>
              <a:rPr lang="it-IT" sz="2400" b="1">
                <a:solidFill>
                  <a:srgbClr val="BD2B0B"/>
                </a:solidFill>
              </a:rPr>
              <a:t>FUNZIONAMENTO</a:t>
            </a:r>
            <a:endParaRPr lang="it-IT" sz="2400">
              <a:solidFill>
                <a:srgbClr val="BD2B0B"/>
              </a:solidFill>
            </a:endParaRPr>
          </a:p>
        </p:txBody>
      </p:sp>
    </p:spTree>
    <p:extLst>
      <p:ext uri="{BB962C8B-B14F-4D97-AF65-F5344CB8AC3E}">
        <p14:creationId xmlns:p14="http://schemas.microsoft.com/office/powerpoint/2010/main" val="3923500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sellaDiTesto 1">
            <a:extLst>
              <a:ext uri="{FF2B5EF4-FFF2-40B4-BE49-F238E27FC236}">
                <a16:creationId xmlns:a16="http://schemas.microsoft.com/office/drawing/2014/main" id="{36CB815E-78E3-A81C-8704-460F44795B71}"/>
              </a:ext>
            </a:extLst>
          </p:cNvPr>
          <p:cNvSpPr txBox="1"/>
          <p:nvPr/>
        </p:nvSpPr>
        <p:spPr>
          <a:xfrm>
            <a:off x="335360" y="436022"/>
            <a:ext cx="7056784" cy="646331"/>
          </a:xfrm>
          <a:prstGeom prst="rect">
            <a:avLst/>
          </a:prstGeom>
          <a:noFill/>
        </p:spPr>
        <p:txBody>
          <a:bodyPr wrap="square">
            <a:spAutoFit/>
          </a:bodyPr>
          <a:lstStyle/>
          <a:p>
            <a:r>
              <a:rPr lang="it-IT" sz="3600" b="1">
                <a:solidFill>
                  <a:srgbClr val="BD2B0B"/>
                </a:solidFill>
              </a:rPr>
              <a:t>DISEGNO E SCHEMA DI PARTENZA</a:t>
            </a:r>
            <a:endParaRPr lang="it-IT" sz="3600">
              <a:solidFill>
                <a:srgbClr val="BD2B0B"/>
              </a:solidFill>
            </a:endParaRPr>
          </a:p>
        </p:txBody>
      </p:sp>
      <p:pic>
        <p:nvPicPr>
          <p:cNvPr id="4" name="Immagine 3" descr="Immagine che contiene diagramma, schizzo, testo, Disegno tecnico&#10;&#10;Il contenuto generato dall'IA potrebbe non essere corretto.">
            <a:extLst>
              <a:ext uri="{FF2B5EF4-FFF2-40B4-BE49-F238E27FC236}">
                <a16:creationId xmlns:a16="http://schemas.microsoft.com/office/drawing/2014/main" id="{4A5EA40C-A838-ED75-8531-36C712F828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908" y="980728"/>
            <a:ext cx="5591944" cy="5790642"/>
          </a:xfrm>
          <a:prstGeom prst="rect">
            <a:avLst/>
          </a:prstGeom>
        </p:spPr>
      </p:pic>
      <p:pic>
        <p:nvPicPr>
          <p:cNvPr id="6" name="Immagine 5" descr="Immagine che contiene macchina&#10;&#10;Il contenuto generato dall'IA potrebbe non essere corretto.">
            <a:extLst>
              <a:ext uri="{FF2B5EF4-FFF2-40B4-BE49-F238E27FC236}">
                <a16:creationId xmlns:a16="http://schemas.microsoft.com/office/drawing/2014/main" id="{D231EEF2-BBB4-0CC2-CCDB-CDB316E17E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4112" y="2002171"/>
            <a:ext cx="4124295" cy="3951005"/>
          </a:xfrm>
          <a:prstGeom prst="rect">
            <a:avLst/>
          </a:prstGeom>
        </p:spPr>
      </p:pic>
    </p:spTree>
    <p:extLst>
      <p:ext uri="{BB962C8B-B14F-4D97-AF65-F5344CB8AC3E}">
        <p14:creationId xmlns:p14="http://schemas.microsoft.com/office/powerpoint/2010/main" val="2608737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9CD49-775F-BF26-64DD-FE55D7A55470}"/>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64FDC712-AD80-7C9F-5794-B9E3879EEDDB}"/>
              </a:ext>
            </a:extLst>
          </p:cNvPr>
          <p:cNvSpPr txBox="1"/>
          <p:nvPr/>
        </p:nvSpPr>
        <p:spPr>
          <a:xfrm>
            <a:off x="291186" y="259326"/>
            <a:ext cx="8496944" cy="646331"/>
          </a:xfrm>
          <a:prstGeom prst="rect">
            <a:avLst/>
          </a:prstGeom>
          <a:noFill/>
        </p:spPr>
        <p:txBody>
          <a:bodyPr wrap="square">
            <a:spAutoFit/>
          </a:bodyPr>
          <a:lstStyle/>
          <a:p>
            <a:r>
              <a:rPr lang="it-IT" sz="3600" b="1">
                <a:solidFill>
                  <a:srgbClr val="BD2B0B"/>
                </a:solidFill>
              </a:rPr>
              <a:t>DISTINTA DEI COMPONENTI DELL’ASSIEME</a:t>
            </a:r>
            <a:endParaRPr lang="it-IT" sz="3600">
              <a:solidFill>
                <a:srgbClr val="BD2B0B"/>
              </a:solidFill>
            </a:endParaRPr>
          </a:p>
        </p:txBody>
      </p:sp>
      <p:graphicFrame>
        <p:nvGraphicFramePr>
          <p:cNvPr id="5" name="Tabella 4">
            <a:extLst>
              <a:ext uri="{FF2B5EF4-FFF2-40B4-BE49-F238E27FC236}">
                <a16:creationId xmlns:a16="http://schemas.microsoft.com/office/drawing/2014/main" id="{9706197E-806F-532E-A3AF-D16C9DBC64F2}"/>
              </a:ext>
            </a:extLst>
          </p:cNvPr>
          <p:cNvGraphicFramePr>
            <a:graphicFrameLocks noGrp="1"/>
          </p:cNvGraphicFramePr>
          <p:nvPr>
            <p:extLst>
              <p:ext uri="{D42A27DB-BD31-4B8C-83A1-F6EECF244321}">
                <p14:modId xmlns:p14="http://schemas.microsoft.com/office/powerpoint/2010/main" val="1700866518"/>
              </p:ext>
            </p:extLst>
          </p:nvPr>
        </p:nvGraphicFramePr>
        <p:xfrm>
          <a:off x="556680" y="1031550"/>
          <a:ext cx="11089233" cy="4955569"/>
        </p:xfrm>
        <a:graphic>
          <a:graphicData uri="http://schemas.openxmlformats.org/drawingml/2006/table">
            <a:tbl>
              <a:tblPr firstRow="1" bandRow="1">
                <a:tableStyleId>{21E4AEA4-8DFA-4A89-87EB-49C32662AFE0}</a:tableStyleId>
              </a:tblPr>
              <a:tblGrid>
                <a:gridCol w="1389897">
                  <a:extLst>
                    <a:ext uri="{9D8B030D-6E8A-4147-A177-3AD203B41FA5}">
                      <a16:colId xmlns:a16="http://schemas.microsoft.com/office/drawing/2014/main" val="3016075632"/>
                    </a:ext>
                  </a:extLst>
                </a:gridCol>
                <a:gridCol w="2689220">
                  <a:extLst>
                    <a:ext uri="{9D8B030D-6E8A-4147-A177-3AD203B41FA5}">
                      <a16:colId xmlns:a16="http://schemas.microsoft.com/office/drawing/2014/main" val="2620048495"/>
                    </a:ext>
                  </a:extLst>
                </a:gridCol>
                <a:gridCol w="718451">
                  <a:extLst>
                    <a:ext uri="{9D8B030D-6E8A-4147-A177-3AD203B41FA5}">
                      <a16:colId xmlns:a16="http://schemas.microsoft.com/office/drawing/2014/main" val="2061281366"/>
                    </a:ext>
                  </a:extLst>
                </a:gridCol>
                <a:gridCol w="2317315">
                  <a:extLst>
                    <a:ext uri="{9D8B030D-6E8A-4147-A177-3AD203B41FA5}">
                      <a16:colId xmlns:a16="http://schemas.microsoft.com/office/drawing/2014/main" val="1587819202"/>
                    </a:ext>
                  </a:extLst>
                </a:gridCol>
                <a:gridCol w="3974350">
                  <a:extLst>
                    <a:ext uri="{9D8B030D-6E8A-4147-A177-3AD203B41FA5}">
                      <a16:colId xmlns:a16="http://schemas.microsoft.com/office/drawing/2014/main" val="3254907079"/>
                    </a:ext>
                  </a:extLst>
                </a:gridCol>
              </a:tblGrid>
              <a:tr h="446213">
                <a:tc>
                  <a:txBody>
                    <a:bodyPr/>
                    <a:lstStyle/>
                    <a:p>
                      <a:r>
                        <a:rPr lang="it-IT"/>
                        <a:t>POSIZIONE</a:t>
                      </a:r>
                    </a:p>
                  </a:txBody>
                  <a:tcPr/>
                </a:tc>
                <a:tc>
                  <a:txBody>
                    <a:bodyPr/>
                    <a:lstStyle/>
                    <a:p>
                      <a:r>
                        <a:rPr lang="it-IT"/>
                        <a:t>DENOMINAZIONE</a:t>
                      </a:r>
                    </a:p>
                  </a:txBody>
                  <a:tcPr/>
                </a:tc>
                <a:tc>
                  <a:txBody>
                    <a:bodyPr/>
                    <a:lstStyle/>
                    <a:p>
                      <a:r>
                        <a:rPr lang="it-IT"/>
                        <a:t>Q.TÀ</a:t>
                      </a:r>
                    </a:p>
                  </a:txBody>
                  <a:tcPr/>
                </a:tc>
                <a:tc>
                  <a:txBody>
                    <a:bodyPr/>
                    <a:lstStyle/>
                    <a:p>
                      <a:r>
                        <a:rPr lang="it-IT"/>
                        <a:t>MATERIALE</a:t>
                      </a:r>
                    </a:p>
                  </a:txBody>
                  <a:tcPr/>
                </a:tc>
                <a:tc>
                  <a:txBody>
                    <a:bodyPr/>
                    <a:lstStyle/>
                    <a:p>
                      <a:r>
                        <a:rPr lang="it-IT"/>
                        <a:t>NOTE</a:t>
                      </a:r>
                    </a:p>
                  </a:txBody>
                  <a:tcPr/>
                </a:tc>
                <a:extLst>
                  <a:ext uri="{0D108BD9-81ED-4DB2-BD59-A6C34878D82A}">
                    <a16:rowId xmlns:a16="http://schemas.microsoft.com/office/drawing/2014/main" val="2352225734"/>
                  </a:ext>
                </a:extLst>
              </a:tr>
              <a:tr h="371845">
                <a:tc>
                  <a:txBody>
                    <a:bodyPr/>
                    <a:lstStyle/>
                    <a:p>
                      <a:pPr algn="ctr"/>
                      <a:r>
                        <a:rPr lang="it-IT" sz="1400">
                          <a:latin typeface="+mn-lt"/>
                        </a:rPr>
                        <a:t> 1</a:t>
                      </a:r>
                    </a:p>
                  </a:txBody>
                  <a:tcPr/>
                </a:tc>
                <a:tc>
                  <a:txBody>
                    <a:bodyPr/>
                    <a:lstStyle/>
                    <a:p>
                      <a:pPr algn="l"/>
                      <a:r>
                        <a:rPr lang="it-IT" sz="1400"/>
                        <a:t>Stelo Idraulico</a:t>
                      </a:r>
                    </a:p>
                  </a:txBody>
                  <a:tcPr anchor="ctr"/>
                </a:tc>
                <a:tc>
                  <a:txBody>
                    <a:bodyPr/>
                    <a:lstStyle/>
                    <a:p>
                      <a:pPr algn="ctr"/>
                      <a:r>
                        <a:rPr lang="it-IT" sz="1400" b="0"/>
                        <a:t>1</a:t>
                      </a:r>
                    </a:p>
                  </a:txBody>
                  <a:tcPr/>
                </a:tc>
                <a:tc>
                  <a:txBody>
                    <a:bodyPr/>
                    <a:lstStyle/>
                    <a:p>
                      <a:pPr lvl="0" algn="l">
                        <a:buNone/>
                      </a:pPr>
                      <a:r>
                        <a:rPr lang="it-IT" sz="1400" b="0" i="0" u="none" strike="noStrike" noProof="0">
                          <a:solidFill>
                            <a:srgbClr val="000000"/>
                          </a:solidFill>
                          <a:latin typeface="Calibri"/>
                        </a:rPr>
                        <a:t>Acciaio Inox</a:t>
                      </a:r>
                      <a:endParaRPr lang="en-US"/>
                    </a:p>
                  </a:txBody>
                  <a:tcPr/>
                </a:tc>
                <a:tc>
                  <a:txBody>
                    <a:bodyPr/>
                    <a:lstStyle/>
                    <a:p>
                      <a:pPr algn="l"/>
                      <a:r>
                        <a:rPr lang="it-IT" sz="1400"/>
                        <a:t>Trasmette il fluido al pistone</a:t>
                      </a:r>
                    </a:p>
                  </a:txBody>
                  <a:tcPr/>
                </a:tc>
                <a:extLst>
                  <a:ext uri="{0D108BD9-81ED-4DB2-BD59-A6C34878D82A}">
                    <a16:rowId xmlns:a16="http://schemas.microsoft.com/office/drawing/2014/main" val="1865162373"/>
                  </a:ext>
                </a:extLst>
              </a:tr>
              <a:tr h="371845">
                <a:tc>
                  <a:txBody>
                    <a:bodyPr/>
                    <a:lstStyle/>
                    <a:p>
                      <a:pPr algn="ctr"/>
                      <a:r>
                        <a:rPr lang="it-IT" sz="1400">
                          <a:latin typeface="+mn-lt"/>
                        </a:rPr>
                        <a:t>2</a:t>
                      </a:r>
                    </a:p>
                  </a:txBody>
                  <a:tcPr/>
                </a:tc>
                <a:tc>
                  <a:txBody>
                    <a:bodyPr/>
                    <a:lstStyle/>
                    <a:p>
                      <a:pPr algn="l"/>
                      <a:r>
                        <a:rPr lang="it-IT" sz="1400"/>
                        <a:t>Guida Stelo</a:t>
                      </a:r>
                    </a:p>
                  </a:txBody>
                  <a:tcPr/>
                </a:tc>
                <a:tc>
                  <a:txBody>
                    <a:bodyPr/>
                    <a:lstStyle/>
                    <a:p>
                      <a:pPr algn="ctr"/>
                      <a:r>
                        <a:rPr lang="it-IT" sz="1400" b="0"/>
                        <a:t>1</a:t>
                      </a:r>
                    </a:p>
                  </a:txBody>
                  <a:tcPr/>
                </a:tc>
                <a:tc>
                  <a:txBody>
                    <a:bodyPr/>
                    <a:lstStyle/>
                    <a:p>
                      <a:pPr algn="l"/>
                      <a:r>
                        <a:rPr lang="it-IT" sz="1400" b="0"/>
                        <a:t>Acciaio</a:t>
                      </a:r>
                    </a:p>
                  </a:txBody>
                  <a:tcPr/>
                </a:tc>
                <a:tc>
                  <a:txBody>
                    <a:bodyPr/>
                    <a:lstStyle/>
                    <a:p>
                      <a:pPr algn="l"/>
                      <a:r>
                        <a:rPr lang="it-IT" sz="1400"/>
                        <a:t>Mantiene l’allineamento dello stelo</a:t>
                      </a:r>
                    </a:p>
                  </a:txBody>
                  <a:tcPr/>
                </a:tc>
                <a:extLst>
                  <a:ext uri="{0D108BD9-81ED-4DB2-BD59-A6C34878D82A}">
                    <a16:rowId xmlns:a16="http://schemas.microsoft.com/office/drawing/2014/main" val="18528908"/>
                  </a:ext>
                </a:extLst>
              </a:tr>
              <a:tr h="371845">
                <a:tc>
                  <a:txBody>
                    <a:bodyPr/>
                    <a:lstStyle/>
                    <a:p>
                      <a:pPr algn="ctr"/>
                      <a:r>
                        <a:rPr lang="it-IT" sz="1400">
                          <a:latin typeface="+mn-lt"/>
                        </a:rPr>
                        <a:t>3</a:t>
                      </a:r>
                    </a:p>
                  </a:txBody>
                  <a:tcPr/>
                </a:tc>
                <a:tc>
                  <a:txBody>
                    <a:bodyPr/>
                    <a:lstStyle/>
                    <a:p>
                      <a:pPr algn="l"/>
                      <a:r>
                        <a:rPr lang="it-IT" sz="1400"/>
                        <a:t>Viti di fissaggio</a:t>
                      </a:r>
                    </a:p>
                  </a:txBody>
                  <a:tcPr/>
                </a:tc>
                <a:tc>
                  <a:txBody>
                    <a:bodyPr/>
                    <a:lstStyle/>
                    <a:p>
                      <a:pPr algn="ctr"/>
                      <a:r>
                        <a:rPr lang="it-IT" sz="1400" b="0"/>
                        <a:t>6</a:t>
                      </a:r>
                    </a:p>
                  </a:txBody>
                  <a:tcPr/>
                </a:tc>
                <a:tc>
                  <a:txBody>
                    <a:bodyPr/>
                    <a:lstStyle/>
                    <a:p>
                      <a:pPr lvl="0" algn="l">
                        <a:buNone/>
                      </a:pPr>
                      <a:r>
                        <a:rPr lang="it-IT" sz="1400" b="0" i="0" u="none" strike="noStrike" noProof="0">
                          <a:solidFill>
                            <a:srgbClr val="000000"/>
                          </a:solidFill>
                          <a:latin typeface="Calibri"/>
                        </a:rPr>
                        <a:t>Acciaio al Carbonio</a:t>
                      </a:r>
                      <a:endParaRPr lang="en-US" sz="1400" b="0" i="0" u="none" strike="noStrike" noProof="0">
                        <a:solidFill>
                          <a:srgbClr val="000000"/>
                        </a:solidFill>
                        <a:latin typeface="Calibri"/>
                      </a:endParaRPr>
                    </a:p>
                  </a:txBody>
                  <a:tcPr/>
                </a:tc>
                <a:tc>
                  <a:txBody>
                    <a:bodyPr/>
                    <a:lstStyle/>
                    <a:p>
                      <a:pPr algn="l"/>
                      <a:r>
                        <a:rPr lang="it-IT" sz="1400"/>
                        <a:t>Uniscono corpo superiore e inferiore</a:t>
                      </a:r>
                    </a:p>
                  </a:txBody>
                  <a:tcPr/>
                </a:tc>
                <a:extLst>
                  <a:ext uri="{0D108BD9-81ED-4DB2-BD59-A6C34878D82A}">
                    <a16:rowId xmlns:a16="http://schemas.microsoft.com/office/drawing/2014/main" val="1840874602"/>
                  </a:ext>
                </a:extLst>
              </a:tr>
              <a:tr h="371845">
                <a:tc>
                  <a:txBody>
                    <a:bodyPr/>
                    <a:lstStyle/>
                    <a:p>
                      <a:pPr algn="ctr"/>
                      <a:r>
                        <a:rPr lang="it-IT" sz="1400">
                          <a:latin typeface="+mn-lt"/>
                        </a:rPr>
                        <a:t>3b</a:t>
                      </a:r>
                    </a:p>
                  </a:txBody>
                  <a:tcPr/>
                </a:tc>
                <a:tc>
                  <a:txBody>
                    <a:bodyPr/>
                    <a:lstStyle/>
                    <a:p>
                      <a:pPr algn="l"/>
                      <a:r>
                        <a:rPr lang="it-IT" sz="1400"/>
                        <a:t>Dadi viti fissaggio</a:t>
                      </a:r>
                    </a:p>
                  </a:txBody>
                  <a:tcPr anchor="ctr"/>
                </a:tc>
                <a:tc>
                  <a:txBody>
                    <a:bodyPr/>
                    <a:lstStyle/>
                    <a:p>
                      <a:pPr algn="ctr"/>
                      <a:r>
                        <a:rPr lang="it-IT" sz="1400" b="0"/>
                        <a:t>6</a:t>
                      </a:r>
                    </a:p>
                  </a:txBody>
                  <a:tcPr/>
                </a:tc>
                <a:tc>
                  <a:txBody>
                    <a:bodyPr/>
                    <a:lstStyle/>
                    <a:p>
                      <a:pPr lvl="0" algn="l">
                        <a:buNone/>
                      </a:pPr>
                      <a:r>
                        <a:rPr lang="it-IT" sz="1400" b="0" i="0" u="none" strike="noStrike" noProof="0">
                          <a:solidFill>
                            <a:srgbClr val="000000"/>
                          </a:solidFill>
                          <a:latin typeface="Calibri"/>
                        </a:rPr>
                        <a:t>Acciaio al Carbonio</a:t>
                      </a:r>
                      <a:endParaRPr lang="en-US" sz="1400" b="0" i="0" u="none" strike="noStrike" noProof="0">
                        <a:solidFill>
                          <a:srgbClr val="000000"/>
                        </a:solidFill>
                        <a:latin typeface="Calibri"/>
                      </a:endParaRPr>
                    </a:p>
                  </a:txBody>
                  <a:tcPr anchor="ctr"/>
                </a:tc>
                <a:tc>
                  <a:txBody>
                    <a:bodyPr/>
                    <a:lstStyle/>
                    <a:p>
                      <a:pPr algn="l"/>
                      <a:r>
                        <a:rPr lang="it-IT" sz="1400"/>
                        <a:t>Chiudono la connessione tra i 2 corpi</a:t>
                      </a:r>
                    </a:p>
                  </a:txBody>
                  <a:tcPr anchor="ctr"/>
                </a:tc>
                <a:extLst>
                  <a:ext uri="{0D108BD9-81ED-4DB2-BD59-A6C34878D82A}">
                    <a16:rowId xmlns:a16="http://schemas.microsoft.com/office/drawing/2014/main" val="2498160163"/>
                  </a:ext>
                </a:extLst>
              </a:tr>
              <a:tr h="371845">
                <a:tc>
                  <a:txBody>
                    <a:bodyPr/>
                    <a:lstStyle/>
                    <a:p>
                      <a:pPr algn="ctr"/>
                      <a:r>
                        <a:rPr lang="it-IT" sz="1400">
                          <a:latin typeface="+mn-lt"/>
                        </a:rPr>
                        <a:t>4</a:t>
                      </a:r>
                    </a:p>
                  </a:txBody>
                  <a:tcPr/>
                </a:tc>
                <a:tc>
                  <a:txBody>
                    <a:bodyPr/>
                    <a:lstStyle/>
                    <a:p>
                      <a:pPr algn="l"/>
                      <a:r>
                        <a:rPr lang="it-IT" sz="1400"/>
                        <a:t>Corpo Superiore</a:t>
                      </a:r>
                    </a:p>
                  </a:txBody>
                  <a:tcPr/>
                </a:tc>
                <a:tc>
                  <a:txBody>
                    <a:bodyPr/>
                    <a:lstStyle/>
                    <a:p>
                      <a:pPr algn="ctr"/>
                      <a:r>
                        <a:rPr lang="it-IT" sz="1400" b="0"/>
                        <a:t>1</a:t>
                      </a:r>
                    </a:p>
                  </a:txBody>
                  <a:tcPr/>
                </a:tc>
                <a:tc>
                  <a:txBody>
                    <a:bodyPr/>
                    <a:lstStyle/>
                    <a:p>
                      <a:pPr algn="l"/>
                      <a:r>
                        <a:rPr lang="it-IT" sz="1400" b="0"/>
                        <a:t>Lega di Alluminio</a:t>
                      </a:r>
                    </a:p>
                  </a:txBody>
                  <a:tcPr/>
                </a:tc>
                <a:tc>
                  <a:txBody>
                    <a:bodyPr/>
                    <a:lstStyle/>
                    <a:p>
                      <a:pPr algn="l"/>
                      <a:r>
                        <a:rPr lang="it-IT" sz="1400"/>
                        <a:t>Corpo esagonale superiore</a:t>
                      </a:r>
                    </a:p>
                  </a:txBody>
                  <a:tcPr/>
                </a:tc>
                <a:extLst>
                  <a:ext uri="{0D108BD9-81ED-4DB2-BD59-A6C34878D82A}">
                    <a16:rowId xmlns:a16="http://schemas.microsoft.com/office/drawing/2014/main" val="101943185"/>
                  </a:ext>
                </a:extLst>
              </a:tr>
              <a:tr h="371845">
                <a:tc>
                  <a:txBody>
                    <a:bodyPr/>
                    <a:lstStyle/>
                    <a:p>
                      <a:pPr lvl="0" algn="ctr">
                        <a:buNone/>
                      </a:pPr>
                      <a:r>
                        <a:rPr lang="it-IT" sz="1400">
                          <a:latin typeface="+mn-lt"/>
                        </a:rPr>
                        <a:t>5</a:t>
                      </a:r>
                    </a:p>
                  </a:txBody>
                  <a:tcPr/>
                </a:tc>
                <a:tc>
                  <a:txBody>
                    <a:bodyPr/>
                    <a:lstStyle/>
                    <a:p>
                      <a:pPr lvl="0" algn="l">
                        <a:buNone/>
                      </a:pPr>
                      <a:r>
                        <a:rPr lang="it-IT" sz="1400"/>
                        <a:t>Tappo Superiore</a:t>
                      </a:r>
                    </a:p>
                  </a:txBody>
                  <a:tcPr/>
                </a:tc>
                <a:tc>
                  <a:txBody>
                    <a:bodyPr/>
                    <a:lstStyle/>
                    <a:p>
                      <a:pPr lvl="0" algn="ctr">
                        <a:buNone/>
                      </a:pPr>
                      <a:r>
                        <a:rPr lang="it-IT" sz="1400" b="0"/>
                        <a:t>1</a:t>
                      </a:r>
                    </a:p>
                  </a:txBody>
                  <a:tcPr/>
                </a:tc>
                <a:tc>
                  <a:txBody>
                    <a:bodyPr/>
                    <a:lstStyle/>
                    <a:p>
                      <a:pPr lvl="0" algn="l">
                        <a:buNone/>
                      </a:pPr>
                      <a:r>
                        <a:rPr lang="it-IT" sz="1400" b="0"/>
                        <a:t>Gomma</a:t>
                      </a:r>
                    </a:p>
                  </a:txBody>
                  <a:tcPr/>
                </a:tc>
                <a:tc>
                  <a:txBody>
                    <a:bodyPr/>
                    <a:lstStyle/>
                    <a:p>
                      <a:pPr lvl="0" algn="l">
                        <a:buNone/>
                      </a:pPr>
                      <a:r>
                        <a:rPr lang="it-IT" sz="1400"/>
                        <a:t>Connessione fluido entrante</a:t>
                      </a:r>
                    </a:p>
                  </a:txBody>
                  <a:tcPr/>
                </a:tc>
                <a:extLst>
                  <a:ext uri="{0D108BD9-81ED-4DB2-BD59-A6C34878D82A}">
                    <a16:rowId xmlns:a16="http://schemas.microsoft.com/office/drawing/2014/main" val="4236327509"/>
                  </a:ext>
                </a:extLst>
              </a:tr>
              <a:tr h="419061">
                <a:tc>
                  <a:txBody>
                    <a:bodyPr/>
                    <a:lstStyle/>
                    <a:p>
                      <a:pPr algn="ctr"/>
                      <a:r>
                        <a:rPr lang="it-IT" sz="1400">
                          <a:latin typeface="+mn-lt"/>
                        </a:rPr>
                        <a:t>6</a:t>
                      </a:r>
                    </a:p>
                  </a:txBody>
                  <a:tcPr/>
                </a:tc>
                <a:tc>
                  <a:txBody>
                    <a:bodyPr/>
                    <a:lstStyle/>
                    <a:p>
                      <a:pPr algn="l"/>
                      <a:r>
                        <a:rPr lang="it-IT" sz="1400"/>
                        <a:t>Tappo Inferiore</a:t>
                      </a:r>
                    </a:p>
                  </a:txBody>
                  <a:tcPr/>
                </a:tc>
                <a:tc>
                  <a:txBody>
                    <a:bodyPr/>
                    <a:lstStyle/>
                    <a:p>
                      <a:pPr algn="ctr"/>
                      <a:r>
                        <a:rPr lang="it-IT" sz="1400" b="0"/>
                        <a:t>1</a:t>
                      </a:r>
                    </a:p>
                  </a:txBody>
                  <a:tcPr/>
                </a:tc>
                <a:tc>
                  <a:txBody>
                    <a:bodyPr/>
                    <a:lstStyle/>
                    <a:p>
                      <a:pPr algn="l"/>
                      <a:r>
                        <a:rPr lang="it-IT" sz="1400" b="0"/>
                        <a:t>Gomma</a:t>
                      </a:r>
                    </a:p>
                  </a:txBody>
                  <a:tcPr/>
                </a:tc>
                <a:tc>
                  <a:txBody>
                    <a:bodyPr/>
                    <a:lstStyle/>
                    <a:p>
                      <a:pPr lvl="0" algn="l">
                        <a:buNone/>
                      </a:pPr>
                      <a:r>
                        <a:rPr lang="it-IT" sz="1400" b="0" i="0" u="none" strike="noStrike" noProof="0">
                          <a:solidFill>
                            <a:srgbClr val="000000"/>
                          </a:solidFill>
                          <a:latin typeface="Calibri"/>
                        </a:rPr>
                        <a:t>Seconda connessione aria in ingresso o sfiato</a:t>
                      </a:r>
                      <a:endParaRPr lang="en-US" sz="1400" b="0" i="0" u="none" strike="noStrike" noProof="0">
                        <a:solidFill>
                          <a:srgbClr val="000000"/>
                        </a:solidFill>
                        <a:latin typeface="Calibri"/>
                      </a:endParaRPr>
                    </a:p>
                  </a:txBody>
                  <a:tcPr/>
                </a:tc>
                <a:extLst>
                  <a:ext uri="{0D108BD9-81ED-4DB2-BD59-A6C34878D82A}">
                    <a16:rowId xmlns:a16="http://schemas.microsoft.com/office/drawing/2014/main" val="3614212565"/>
                  </a:ext>
                </a:extLst>
              </a:tr>
              <a:tr h="371845">
                <a:tc>
                  <a:txBody>
                    <a:bodyPr/>
                    <a:lstStyle/>
                    <a:p>
                      <a:pPr algn="ctr"/>
                      <a:r>
                        <a:rPr lang="it-IT" sz="1400">
                          <a:latin typeface="+mn-lt"/>
                        </a:rPr>
                        <a:t>7</a:t>
                      </a:r>
                    </a:p>
                  </a:txBody>
                  <a:tcPr/>
                </a:tc>
                <a:tc>
                  <a:txBody>
                    <a:bodyPr/>
                    <a:lstStyle/>
                    <a:p>
                      <a:pPr algn="l"/>
                      <a:r>
                        <a:rPr lang="it-IT" sz="1400"/>
                        <a:t>Corpo Inferiore</a:t>
                      </a:r>
                    </a:p>
                  </a:txBody>
                  <a:tcPr/>
                </a:tc>
                <a:tc>
                  <a:txBody>
                    <a:bodyPr/>
                    <a:lstStyle/>
                    <a:p>
                      <a:pPr algn="ctr"/>
                      <a:r>
                        <a:rPr lang="it-IT" sz="1400" b="0"/>
                        <a:t>1</a:t>
                      </a:r>
                    </a:p>
                  </a:txBody>
                  <a:tcPr/>
                </a:tc>
                <a:tc>
                  <a:txBody>
                    <a:bodyPr/>
                    <a:lstStyle/>
                    <a:p>
                      <a:pPr lvl="0" algn="l">
                        <a:buNone/>
                      </a:pPr>
                      <a:r>
                        <a:rPr lang="it-IT" sz="1400" b="0" i="0" u="none" strike="noStrike" noProof="0">
                          <a:solidFill>
                            <a:srgbClr val="000000"/>
                          </a:solidFill>
                          <a:latin typeface="Calibri"/>
                        </a:rPr>
                        <a:t>Lega di Alluminio</a:t>
                      </a:r>
                      <a:endParaRPr lang="en-US" sz="1400" b="0" i="0" u="none" strike="noStrike" noProof="0">
                        <a:solidFill>
                          <a:srgbClr val="000000"/>
                        </a:solidFill>
                        <a:latin typeface="Calibri"/>
                      </a:endParaRPr>
                    </a:p>
                  </a:txBody>
                  <a:tcPr/>
                </a:tc>
                <a:tc>
                  <a:txBody>
                    <a:bodyPr/>
                    <a:lstStyle/>
                    <a:p>
                      <a:pPr lvl="0" algn="l">
                        <a:buNone/>
                      </a:pPr>
                      <a:r>
                        <a:rPr lang="it-IT" sz="1400" b="0" i="0" u="none" strike="noStrike" noProof="0">
                          <a:solidFill>
                            <a:srgbClr val="000000"/>
                          </a:solidFill>
                          <a:latin typeface="Calibri"/>
                        </a:rPr>
                        <a:t>Corpo esagonale inferiore</a:t>
                      </a:r>
                      <a:endParaRPr lang="en-US"/>
                    </a:p>
                  </a:txBody>
                  <a:tcPr/>
                </a:tc>
                <a:extLst>
                  <a:ext uri="{0D108BD9-81ED-4DB2-BD59-A6C34878D82A}">
                    <a16:rowId xmlns:a16="http://schemas.microsoft.com/office/drawing/2014/main" val="2839411003"/>
                  </a:ext>
                </a:extLst>
              </a:tr>
              <a:tr h="371845">
                <a:tc>
                  <a:txBody>
                    <a:bodyPr/>
                    <a:lstStyle/>
                    <a:p>
                      <a:pPr algn="ctr"/>
                      <a:r>
                        <a:rPr lang="it-IT" sz="1400">
                          <a:latin typeface="+mn-lt"/>
                        </a:rPr>
                        <a:t>8</a:t>
                      </a:r>
                    </a:p>
                  </a:txBody>
                  <a:tcPr/>
                </a:tc>
                <a:tc>
                  <a:txBody>
                    <a:bodyPr/>
                    <a:lstStyle/>
                    <a:p>
                      <a:pPr algn="l"/>
                      <a:r>
                        <a:rPr lang="it-IT" sz="1400"/>
                        <a:t>Vite Guida Pistone</a:t>
                      </a:r>
                    </a:p>
                  </a:txBody>
                  <a:tcPr/>
                </a:tc>
                <a:tc>
                  <a:txBody>
                    <a:bodyPr/>
                    <a:lstStyle/>
                    <a:p>
                      <a:pPr algn="ctr"/>
                      <a:r>
                        <a:rPr lang="it-IT" sz="1400" b="0"/>
                        <a:t>1</a:t>
                      </a:r>
                    </a:p>
                  </a:txBody>
                  <a:tcPr/>
                </a:tc>
                <a:tc>
                  <a:txBody>
                    <a:bodyPr/>
                    <a:lstStyle/>
                    <a:p>
                      <a:pPr algn="l"/>
                      <a:r>
                        <a:rPr lang="it-IT" sz="1400" b="0"/>
                        <a:t>Acciaio al Carbonio</a:t>
                      </a:r>
                    </a:p>
                  </a:txBody>
                  <a:tcPr/>
                </a:tc>
                <a:tc>
                  <a:txBody>
                    <a:bodyPr/>
                    <a:lstStyle/>
                    <a:p>
                      <a:pPr algn="l"/>
                      <a:r>
                        <a:rPr lang="it-IT" sz="1400"/>
                        <a:t>Vincola il moto del pistone</a:t>
                      </a:r>
                    </a:p>
                  </a:txBody>
                  <a:tcPr/>
                </a:tc>
                <a:extLst>
                  <a:ext uri="{0D108BD9-81ED-4DB2-BD59-A6C34878D82A}">
                    <a16:rowId xmlns:a16="http://schemas.microsoft.com/office/drawing/2014/main" val="2950010590"/>
                  </a:ext>
                </a:extLst>
              </a:tr>
              <a:tr h="371845">
                <a:tc>
                  <a:txBody>
                    <a:bodyPr/>
                    <a:lstStyle/>
                    <a:p>
                      <a:pPr algn="ctr"/>
                      <a:r>
                        <a:rPr lang="it-IT" sz="1400">
                          <a:latin typeface="+mn-lt"/>
                        </a:rPr>
                        <a:t>9</a:t>
                      </a:r>
                    </a:p>
                  </a:txBody>
                  <a:tcPr/>
                </a:tc>
                <a:tc>
                  <a:txBody>
                    <a:bodyPr/>
                    <a:lstStyle/>
                    <a:p>
                      <a:pPr algn="l"/>
                      <a:r>
                        <a:rPr lang="it-IT" sz="1400"/>
                        <a:t>Dado Vite Guida</a:t>
                      </a:r>
                    </a:p>
                  </a:txBody>
                  <a:tcPr/>
                </a:tc>
                <a:tc>
                  <a:txBody>
                    <a:bodyPr/>
                    <a:lstStyle/>
                    <a:p>
                      <a:pPr algn="ctr"/>
                      <a:r>
                        <a:rPr lang="it-IT" sz="1400" b="0"/>
                        <a:t>1</a:t>
                      </a:r>
                    </a:p>
                  </a:txBody>
                  <a:tcPr/>
                </a:tc>
                <a:tc>
                  <a:txBody>
                    <a:bodyPr/>
                    <a:lstStyle/>
                    <a:p>
                      <a:pPr algn="l"/>
                      <a:r>
                        <a:rPr lang="it-IT" sz="1400" b="0"/>
                        <a:t>Acciaio al Carbonio</a:t>
                      </a:r>
                    </a:p>
                  </a:txBody>
                  <a:tcPr/>
                </a:tc>
                <a:tc>
                  <a:txBody>
                    <a:bodyPr/>
                    <a:lstStyle/>
                    <a:p>
                      <a:pPr algn="l"/>
                      <a:r>
                        <a:rPr lang="it-IT" sz="1400"/>
                        <a:t>Vincola blocco superiore al moto della leva</a:t>
                      </a:r>
                    </a:p>
                  </a:txBody>
                  <a:tcPr/>
                </a:tc>
                <a:extLst>
                  <a:ext uri="{0D108BD9-81ED-4DB2-BD59-A6C34878D82A}">
                    <a16:rowId xmlns:a16="http://schemas.microsoft.com/office/drawing/2014/main" val="2552033362"/>
                  </a:ext>
                </a:extLst>
              </a:tr>
              <a:tr h="371845">
                <a:tc>
                  <a:txBody>
                    <a:bodyPr/>
                    <a:lstStyle/>
                    <a:p>
                      <a:pPr lvl="0" algn="ctr">
                        <a:buNone/>
                      </a:pPr>
                      <a:r>
                        <a:rPr lang="it-IT" sz="1400">
                          <a:latin typeface="+mn-lt"/>
                        </a:rPr>
                        <a:t>10</a:t>
                      </a:r>
                    </a:p>
                  </a:txBody>
                  <a:tcPr/>
                </a:tc>
                <a:tc>
                  <a:txBody>
                    <a:bodyPr/>
                    <a:lstStyle/>
                    <a:p>
                      <a:pPr lvl="0" algn="l">
                        <a:buNone/>
                      </a:pPr>
                      <a:r>
                        <a:rPr lang="it-IT" sz="1400"/>
                        <a:t>Pistone Idraulico</a:t>
                      </a:r>
                    </a:p>
                  </a:txBody>
                  <a:tcPr/>
                </a:tc>
                <a:tc>
                  <a:txBody>
                    <a:bodyPr/>
                    <a:lstStyle/>
                    <a:p>
                      <a:pPr lvl="0" algn="ctr">
                        <a:buNone/>
                      </a:pPr>
                      <a:r>
                        <a:rPr lang="it-IT" sz="1400" b="0"/>
                        <a:t>1</a:t>
                      </a:r>
                    </a:p>
                  </a:txBody>
                  <a:tcPr/>
                </a:tc>
                <a:tc>
                  <a:txBody>
                    <a:bodyPr/>
                    <a:lstStyle/>
                    <a:p>
                      <a:pPr lvl="0" algn="l">
                        <a:buNone/>
                      </a:pPr>
                      <a:r>
                        <a:rPr lang="it-IT" sz="1400" b="0"/>
                        <a:t>Acciaio Inox</a:t>
                      </a:r>
                    </a:p>
                  </a:txBody>
                  <a:tcPr/>
                </a:tc>
                <a:tc>
                  <a:txBody>
                    <a:bodyPr/>
                    <a:lstStyle/>
                    <a:p>
                      <a:pPr lvl="0" algn="l">
                        <a:buNone/>
                      </a:pPr>
                      <a:r>
                        <a:rPr lang="it-IT" sz="1400" b="0" i="0" u="none" strike="noStrike" noProof="0">
                          <a:solidFill>
                            <a:srgbClr val="000000"/>
                          </a:solidFill>
                          <a:latin typeface="Calibri"/>
                        </a:rPr>
                        <a:t>Genera moto delle leve</a:t>
                      </a:r>
                    </a:p>
                  </a:txBody>
                  <a:tcPr/>
                </a:tc>
                <a:extLst>
                  <a:ext uri="{0D108BD9-81ED-4DB2-BD59-A6C34878D82A}">
                    <a16:rowId xmlns:a16="http://schemas.microsoft.com/office/drawing/2014/main" val="1327643519"/>
                  </a:ext>
                </a:extLst>
              </a:tr>
              <a:tr h="371845">
                <a:tc>
                  <a:txBody>
                    <a:bodyPr/>
                    <a:lstStyle/>
                    <a:p>
                      <a:pPr lvl="0" algn="ctr">
                        <a:buNone/>
                      </a:pPr>
                      <a:r>
                        <a:rPr lang="it-IT" sz="1400">
                          <a:latin typeface="+mn-lt"/>
                        </a:rPr>
                        <a:t>11</a:t>
                      </a:r>
                    </a:p>
                  </a:txBody>
                  <a:tcPr/>
                </a:tc>
                <a:tc>
                  <a:txBody>
                    <a:bodyPr/>
                    <a:lstStyle/>
                    <a:p>
                      <a:pPr lvl="0" algn="l">
                        <a:buNone/>
                      </a:pPr>
                      <a:r>
                        <a:rPr lang="it-IT" sz="1400"/>
                        <a:t>Vite di attuazione</a:t>
                      </a:r>
                    </a:p>
                  </a:txBody>
                  <a:tcPr/>
                </a:tc>
                <a:tc>
                  <a:txBody>
                    <a:bodyPr/>
                    <a:lstStyle/>
                    <a:p>
                      <a:pPr lvl="0" algn="ctr">
                        <a:buNone/>
                      </a:pPr>
                      <a:r>
                        <a:rPr lang="it-IT" sz="1400" b="0"/>
                        <a:t>1</a:t>
                      </a:r>
                    </a:p>
                  </a:txBody>
                  <a:tcPr/>
                </a:tc>
                <a:tc>
                  <a:txBody>
                    <a:bodyPr/>
                    <a:lstStyle/>
                    <a:p>
                      <a:pPr lvl="0" algn="l">
                        <a:buNone/>
                      </a:pPr>
                      <a:r>
                        <a:rPr lang="it-IT" sz="1400" b="0" i="0" u="none" strike="noStrike" noProof="0">
                          <a:solidFill>
                            <a:srgbClr val="000000"/>
                          </a:solidFill>
                          <a:latin typeface="Calibri"/>
                        </a:rPr>
                        <a:t>Acciaio al Carbonio</a:t>
                      </a:r>
                      <a:endParaRPr lang="en-US" sz="1400" b="0" i="0" u="none" strike="noStrike" noProof="0">
                        <a:solidFill>
                          <a:srgbClr val="000000"/>
                        </a:solidFill>
                        <a:latin typeface="Calibri"/>
                      </a:endParaRPr>
                    </a:p>
                  </a:txBody>
                  <a:tcPr/>
                </a:tc>
                <a:tc>
                  <a:txBody>
                    <a:bodyPr/>
                    <a:lstStyle/>
                    <a:p>
                      <a:pPr lvl="0" algn="l">
                        <a:buNone/>
                      </a:pPr>
                      <a:r>
                        <a:rPr lang="it-IT" sz="1400" b="0" i="0" u="none" strike="noStrike" noProof="0">
                          <a:solidFill>
                            <a:srgbClr val="000000"/>
                          </a:solidFill>
                          <a:latin typeface="Calibri"/>
                        </a:rPr>
                        <a:t>Trasmette moto del pistone alla leva inferiore</a:t>
                      </a:r>
                    </a:p>
                  </a:txBody>
                  <a:tcPr/>
                </a:tc>
                <a:extLst>
                  <a:ext uri="{0D108BD9-81ED-4DB2-BD59-A6C34878D82A}">
                    <a16:rowId xmlns:a16="http://schemas.microsoft.com/office/drawing/2014/main" val="4248989763"/>
                  </a:ext>
                </a:extLst>
              </a:tr>
            </a:tbl>
          </a:graphicData>
        </a:graphic>
      </p:graphicFrame>
    </p:spTree>
    <p:extLst>
      <p:ext uri="{BB962C8B-B14F-4D97-AF65-F5344CB8AC3E}">
        <p14:creationId xmlns:p14="http://schemas.microsoft.com/office/powerpoint/2010/main" val="4041558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A97D3-E9F2-38AC-C9CE-C734141CFEC1}"/>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1A7892CE-1440-7218-F4BD-88620562AFCF}"/>
              </a:ext>
            </a:extLst>
          </p:cNvPr>
          <p:cNvSpPr txBox="1"/>
          <p:nvPr/>
        </p:nvSpPr>
        <p:spPr>
          <a:xfrm>
            <a:off x="335360" y="436022"/>
            <a:ext cx="8496944" cy="646331"/>
          </a:xfrm>
          <a:prstGeom prst="rect">
            <a:avLst/>
          </a:prstGeom>
          <a:noFill/>
        </p:spPr>
        <p:txBody>
          <a:bodyPr wrap="square">
            <a:spAutoFit/>
          </a:bodyPr>
          <a:lstStyle/>
          <a:p>
            <a:r>
              <a:rPr lang="it-IT" sz="3600" b="1">
                <a:solidFill>
                  <a:srgbClr val="BD2B0B"/>
                </a:solidFill>
              </a:rPr>
              <a:t>DISTINTA DEI COMPONENTI DELL’ASSIEME</a:t>
            </a:r>
            <a:endParaRPr lang="it-IT" sz="3600">
              <a:solidFill>
                <a:srgbClr val="BD2B0B"/>
              </a:solidFill>
            </a:endParaRPr>
          </a:p>
        </p:txBody>
      </p:sp>
      <p:graphicFrame>
        <p:nvGraphicFramePr>
          <p:cNvPr id="5" name="Tabella 4">
            <a:extLst>
              <a:ext uri="{FF2B5EF4-FFF2-40B4-BE49-F238E27FC236}">
                <a16:creationId xmlns:a16="http://schemas.microsoft.com/office/drawing/2014/main" id="{D0356612-687C-EC2D-CA2C-EE24B7A9F66D}"/>
              </a:ext>
            </a:extLst>
          </p:cNvPr>
          <p:cNvGraphicFramePr>
            <a:graphicFrameLocks noGrp="1"/>
          </p:cNvGraphicFramePr>
          <p:nvPr>
            <p:extLst>
              <p:ext uri="{D42A27DB-BD31-4B8C-83A1-F6EECF244321}">
                <p14:modId xmlns:p14="http://schemas.microsoft.com/office/powerpoint/2010/main" val="2227062036"/>
              </p:ext>
            </p:extLst>
          </p:nvPr>
        </p:nvGraphicFramePr>
        <p:xfrm>
          <a:off x="417806" y="1164376"/>
          <a:ext cx="11521277" cy="4812465"/>
        </p:xfrm>
        <a:graphic>
          <a:graphicData uri="http://schemas.openxmlformats.org/drawingml/2006/table">
            <a:tbl>
              <a:tblPr firstRow="1" bandRow="1">
                <a:tableStyleId>{21E4AEA4-8DFA-4A89-87EB-49C32662AFE0}</a:tableStyleId>
              </a:tblPr>
              <a:tblGrid>
                <a:gridCol w="1282263">
                  <a:extLst>
                    <a:ext uri="{9D8B030D-6E8A-4147-A177-3AD203B41FA5}">
                      <a16:colId xmlns:a16="http://schemas.microsoft.com/office/drawing/2014/main" val="3016075632"/>
                    </a:ext>
                  </a:extLst>
                </a:gridCol>
                <a:gridCol w="2465655">
                  <a:extLst>
                    <a:ext uri="{9D8B030D-6E8A-4147-A177-3AD203B41FA5}">
                      <a16:colId xmlns:a16="http://schemas.microsoft.com/office/drawing/2014/main" val="2620048495"/>
                    </a:ext>
                  </a:extLst>
                </a:gridCol>
                <a:gridCol w="678835">
                  <a:extLst>
                    <a:ext uri="{9D8B030D-6E8A-4147-A177-3AD203B41FA5}">
                      <a16:colId xmlns:a16="http://schemas.microsoft.com/office/drawing/2014/main" val="2061281366"/>
                    </a:ext>
                  </a:extLst>
                </a:gridCol>
                <a:gridCol w="3361150">
                  <a:extLst>
                    <a:ext uri="{9D8B030D-6E8A-4147-A177-3AD203B41FA5}">
                      <a16:colId xmlns:a16="http://schemas.microsoft.com/office/drawing/2014/main" val="1587819202"/>
                    </a:ext>
                  </a:extLst>
                </a:gridCol>
                <a:gridCol w="3733374">
                  <a:extLst>
                    <a:ext uri="{9D8B030D-6E8A-4147-A177-3AD203B41FA5}">
                      <a16:colId xmlns:a16="http://schemas.microsoft.com/office/drawing/2014/main" val="3254907079"/>
                    </a:ext>
                  </a:extLst>
                </a:gridCol>
              </a:tblGrid>
              <a:tr h="372812">
                <a:tc>
                  <a:txBody>
                    <a:bodyPr/>
                    <a:lstStyle/>
                    <a:p>
                      <a:r>
                        <a:rPr lang="it-IT"/>
                        <a:t>POSIZIONE</a:t>
                      </a:r>
                    </a:p>
                  </a:txBody>
                  <a:tcPr/>
                </a:tc>
                <a:tc>
                  <a:txBody>
                    <a:bodyPr/>
                    <a:lstStyle/>
                    <a:p>
                      <a:r>
                        <a:rPr lang="it-IT"/>
                        <a:t>DENOMINAZIONE</a:t>
                      </a:r>
                    </a:p>
                  </a:txBody>
                  <a:tcPr/>
                </a:tc>
                <a:tc>
                  <a:txBody>
                    <a:bodyPr/>
                    <a:lstStyle/>
                    <a:p>
                      <a:pPr algn="ctr"/>
                      <a:r>
                        <a:rPr lang="it-IT" sz="1400"/>
                        <a:t>Q.TÀ</a:t>
                      </a:r>
                    </a:p>
                  </a:txBody>
                  <a:tcPr/>
                </a:tc>
                <a:tc>
                  <a:txBody>
                    <a:bodyPr/>
                    <a:lstStyle/>
                    <a:p>
                      <a:pPr algn="l"/>
                      <a:r>
                        <a:rPr lang="it-IT" sz="1400">
                          <a:latin typeface="+mn-lt"/>
                        </a:rPr>
                        <a:t>MATERIALE</a:t>
                      </a:r>
                    </a:p>
                  </a:txBody>
                  <a:tcPr/>
                </a:tc>
                <a:tc>
                  <a:txBody>
                    <a:bodyPr/>
                    <a:lstStyle/>
                    <a:p>
                      <a:pPr algn="l"/>
                      <a:r>
                        <a:rPr lang="it-IT" sz="1400"/>
                        <a:t>NOTE</a:t>
                      </a:r>
                    </a:p>
                  </a:txBody>
                  <a:tcPr/>
                </a:tc>
                <a:extLst>
                  <a:ext uri="{0D108BD9-81ED-4DB2-BD59-A6C34878D82A}">
                    <a16:rowId xmlns:a16="http://schemas.microsoft.com/office/drawing/2014/main" val="2352225734"/>
                  </a:ext>
                </a:extLst>
              </a:tr>
              <a:tr h="362736">
                <a:tc>
                  <a:txBody>
                    <a:bodyPr/>
                    <a:lstStyle/>
                    <a:p>
                      <a:pPr algn="ctr"/>
                      <a:r>
                        <a:rPr lang="it-IT" sz="1400"/>
                        <a:t>12</a:t>
                      </a:r>
                    </a:p>
                  </a:txBody>
                  <a:tcPr/>
                </a:tc>
                <a:tc>
                  <a:txBody>
                    <a:bodyPr/>
                    <a:lstStyle/>
                    <a:p>
                      <a:pPr algn="l"/>
                      <a:r>
                        <a:rPr lang="it-IT" sz="1400" b="0">
                          <a:latin typeface="+mn-lt"/>
                        </a:rPr>
                        <a:t>Dado Vite attuazione</a:t>
                      </a:r>
                    </a:p>
                  </a:txBody>
                  <a:tcPr/>
                </a:tc>
                <a:tc>
                  <a:txBody>
                    <a:bodyPr/>
                    <a:lstStyle/>
                    <a:p>
                      <a:pPr algn="ctr"/>
                      <a:r>
                        <a:rPr lang="it-IT" sz="1400" b="0"/>
                        <a:t>1</a:t>
                      </a:r>
                    </a:p>
                  </a:txBody>
                  <a:tcPr/>
                </a:tc>
                <a:tc>
                  <a:txBody>
                    <a:bodyPr/>
                    <a:lstStyle/>
                    <a:p>
                      <a:pPr algn="l"/>
                      <a:r>
                        <a:rPr lang="it-IT" sz="1400" b="0">
                          <a:latin typeface="+mn-lt"/>
                        </a:rPr>
                        <a:t>Acciaio al Carbonio</a:t>
                      </a:r>
                    </a:p>
                  </a:txBody>
                  <a:tcPr/>
                </a:tc>
                <a:tc>
                  <a:txBody>
                    <a:bodyPr/>
                    <a:lstStyle/>
                    <a:p>
                      <a:pPr algn="l"/>
                      <a:r>
                        <a:rPr lang="it-IT" sz="1400"/>
                        <a:t>Fissa la vite di attuazione alla leva</a:t>
                      </a:r>
                    </a:p>
                  </a:txBody>
                  <a:tcPr/>
                </a:tc>
                <a:extLst>
                  <a:ext uri="{0D108BD9-81ED-4DB2-BD59-A6C34878D82A}">
                    <a16:rowId xmlns:a16="http://schemas.microsoft.com/office/drawing/2014/main" val="3199472487"/>
                  </a:ext>
                </a:extLst>
              </a:tr>
              <a:tr h="392964">
                <a:tc>
                  <a:txBody>
                    <a:bodyPr/>
                    <a:lstStyle/>
                    <a:p>
                      <a:pPr algn="ctr"/>
                      <a:r>
                        <a:rPr lang="it-IT" sz="1400"/>
                        <a:t>13</a:t>
                      </a:r>
                    </a:p>
                  </a:txBody>
                  <a:tcPr/>
                </a:tc>
                <a:tc>
                  <a:txBody>
                    <a:bodyPr/>
                    <a:lstStyle/>
                    <a:p>
                      <a:r>
                        <a:rPr lang="it-IT" sz="1400" b="0">
                          <a:latin typeface="+mn-lt"/>
                        </a:rPr>
                        <a:t>Supporti Leva</a:t>
                      </a:r>
                    </a:p>
                  </a:txBody>
                  <a:tcPr/>
                </a:tc>
                <a:tc>
                  <a:txBody>
                    <a:bodyPr/>
                    <a:lstStyle/>
                    <a:p>
                      <a:pPr algn="ctr"/>
                      <a:r>
                        <a:rPr lang="it-IT" sz="1400"/>
                        <a:t>2</a:t>
                      </a:r>
                    </a:p>
                  </a:txBody>
                  <a:tcPr/>
                </a:tc>
                <a:tc>
                  <a:txBody>
                    <a:bodyPr/>
                    <a:lstStyle/>
                    <a:p>
                      <a:pPr lvl="0" algn="l">
                        <a:buNone/>
                      </a:pPr>
                      <a:r>
                        <a:rPr lang="it-IT" sz="1400" b="0" i="0" u="none" strike="noStrike" noProof="0">
                          <a:solidFill>
                            <a:srgbClr val="000000"/>
                          </a:solidFill>
                          <a:latin typeface="Calibri"/>
                        </a:rPr>
                        <a:t>Acciaio Rinforzato</a:t>
                      </a:r>
                      <a:endParaRPr lang="en-US"/>
                    </a:p>
                  </a:txBody>
                  <a:tcPr anchor="ctr"/>
                </a:tc>
                <a:tc>
                  <a:txBody>
                    <a:bodyPr/>
                    <a:lstStyle/>
                    <a:p>
                      <a:pPr algn="l"/>
                      <a:r>
                        <a:rPr lang="it-IT" sz="1400"/>
                        <a:t>Realizzano accoppiamento con la leva</a:t>
                      </a:r>
                    </a:p>
                  </a:txBody>
                  <a:tcPr/>
                </a:tc>
                <a:extLst>
                  <a:ext uri="{0D108BD9-81ED-4DB2-BD59-A6C34878D82A}">
                    <a16:rowId xmlns:a16="http://schemas.microsoft.com/office/drawing/2014/main" val="1865162373"/>
                  </a:ext>
                </a:extLst>
              </a:tr>
              <a:tr h="372812">
                <a:tc>
                  <a:txBody>
                    <a:bodyPr/>
                    <a:lstStyle/>
                    <a:p>
                      <a:pPr algn="ctr"/>
                      <a:r>
                        <a:rPr lang="it-IT" sz="1400"/>
                        <a:t>14</a:t>
                      </a:r>
                    </a:p>
                  </a:txBody>
                  <a:tcPr/>
                </a:tc>
                <a:tc>
                  <a:txBody>
                    <a:bodyPr/>
                    <a:lstStyle/>
                    <a:p>
                      <a:r>
                        <a:rPr lang="it-IT" sz="1400" b="0">
                          <a:latin typeface="+mn-lt"/>
                        </a:rPr>
                        <a:t>Supporto "a L" </a:t>
                      </a:r>
                    </a:p>
                  </a:txBody>
                  <a:tcPr/>
                </a:tc>
                <a:tc>
                  <a:txBody>
                    <a:bodyPr/>
                    <a:lstStyle/>
                    <a:p>
                      <a:pPr algn="ctr"/>
                      <a:r>
                        <a:rPr lang="it-IT" sz="1400"/>
                        <a:t>2</a:t>
                      </a:r>
                    </a:p>
                  </a:txBody>
                  <a:tcPr/>
                </a:tc>
                <a:tc>
                  <a:txBody>
                    <a:bodyPr/>
                    <a:lstStyle/>
                    <a:p>
                      <a:pPr lvl="0" algn="l">
                        <a:buNone/>
                      </a:pPr>
                      <a:r>
                        <a:rPr lang="it-IT" sz="1400" b="0" i="0" u="none" strike="noStrike" noProof="0">
                          <a:solidFill>
                            <a:srgbClr val="000000"/>
                          </a:solidFill>
                          <a:latin typeface="Calibri"/>
                        </a:rPr>
                        <a:t>Acciaio Rinforzato</a:t>
                      </a:r>
                      <a:endParaRPr lang="en-US"/>
                    </a:p>
                  </a:txBody>
                  <a:tcPr/>
                </a:tc>
                <a:tc>
                  <a:txBody>
                    <a:bodyPr/>
                    <a:lstStyle/>
                    <a:p>
                      <a:pPr algn="l"/>
                      <a:r>
                        <a:rPr lang="it-IT" sz="1400"/>
                        <a:t>Accoppiano i supporti e le pastiglie</a:t>
                      </a:r>
                    </a:p>
                  </a:txBody>
                  <a:tcPr/>
                </a:tc>
                <a:extLst>
                  <a:ext uri="{0D108BD9-81ED-4DB2-BD59-A6C34878D82A}">
                    <a16:rowId xmlns:a16="http://schemas.microsoft.com/office/drawing/2014/main" val="18528908"/>
                  </a:ext>
                </a:extLst>
              </a:tr>
              <a:tr h="372812">
                <a:tc>
                  <a:txBody>
                    <a:bodyPr/>
                    <a:lstStyle/>
                    <a:p>
                      <a:pPr lvl="0" algn="ctr">
                        <a:buNone/>
                      </a:pPr>
                      <a:r>
                        <a:rPr lang="it-IT" sz="1400"/>
                        <a:t>15</a:t>
                      </a:r>
                    </a:p>
                  </a:txBody>
                  <a:tcPr/>
                </a:tc>
                <a:tc>
                  <a:txBody>
                    <a:bodyPr/>
                    <a:lstStyle/>
                    <a:p>
                      <a:pPr lvl="0">
                        <a:buNone/>
                      </a:pPr>
                      <a:r>
                        <a:rPr lang="it-IT" sz="1400" b="0">
                          <a:latin typeface="+mn-lt"/>
                        </a:rPr>
                        <a:t>Pastiglia ceramiche</a:t>
                      </a:r>
                    </a:p>
                  </a:txBody>
                  <a:tcPr/>
                </a:tc>
                <a:tc>
                  <a:txBody>
                    <a:bodyPr/>
                    <a:lstStyle/>
                    <a:p>
                      <a:pPr lvl="0" algn="ctr">
                        <a:buNone/>
                      </a:pPr>
                      <a:r>
                        <a:rPr lang="it-IT" sz="1400"/>
                        <a:t>2</a:t>
                      </a:r>
                    </a:p>
                  </a:txBody>
                  <a:tcPr/>
                </a:tc>
                <a:tc>
                  <a:txBody>
                    <a:bodyPr/>
                    <a:lstStyle/>
                    <a:p>
                      <a:pPr lvl="0" algn="l">
                        <a:buNone/>
                      </a:pPr>
                      <a:r>
                        <a:rPr lang="it-IT" sz="1400">
                          <a:latin typeface="+mn-lt"/>
                        </a:rPr>
                        <a:t>Fibre ceramiche e metalli</a:t>
                      </a:r>
                    </a:p>
                  </a:txBody>
                  <a:tcPr/>
                </a:tc>
                <a:tc>
                  <a:txBody>
                    <a:bodyPr/>
                    <a:lstStyle/>
                    <a:p>
                      <a:pPr lvl="0" algn="l">
                        <a:buNone/>
                      </a:pPr>
                      <a:r>
                        <a:rPr lang="it-IT" sz="1400"/>
                        <a:t>Creano attrito con l'albero rotante</a:t>
                      </a:r>
                    </a:p>
                  </a:txBody>
                  <a:tcPr/>
                </a:tc>
                <a:extLst>
                  <a:ext uri="{0D108BD9-81ED-4DB2-BD59-A6C34878D82A}">
                    <a16:rowId xmlns:a16="http://schemas.microsoft.com/office/drawing/2014/main" val="2229397981"/>
                  </a:ext>
                </a:extLst>
              </a:tr>
              <a:tr h="372812">
                <a:tc>
                  <a:txBody>
                    <a:bodyPr/>
                    <a:lstStyle/>
                    <a:p>
                      <a:pPr algn="ctr"/>
                      <a:r>
                        <a:rPr lang="it-IT" sz="1400"/>
                        <a:t>16</a:t>
                      </a:r>
                    </a:p>
                  </a:txBody>
                  <a:tcPr/>
                </a:tc>
                <a:tc>
                  <a:txBody>
                    <a:bodyPr/>
                    <a:lstStyle/>
                    <a:p>
                      <a:r>
                        <a:rPr lang="it-IT" sz="1400" b="0">
                          <a:latin typeface="+mn-lt"/>
                        </a:rPr>
                        <a:t>Seeger</a:t>
                      </a:r>
                    </a:p>
                  </a:txBody>
                  <a:tcPr/>
                </a:tc>
                <a:tc>
                  <a:txBody>
                    <a:bodyPr/>
                    <a:lstStyle/>
                    <a:p>
                      <a:pPr algn="ctr"/>
                      <a:r>
                        <a:rPr lang="it-IT" sz="1400"/>
                        <a:t>2</a:t>
                      </a:r>
                    </a:p>
                  </a:txBody>
                  <a:tcPr/>
                </a:tc>
                <a:tc>
                  <a:txBody>
                    <a:bodyPr/>
                    <a:lstStyle/>
                    <a:p>
                      <a:pPr algn="l"/>
                      <a:r>
                        <a:rPr lang="it-IT" sz="1400">
                          <a:latin typeface="+mn-lt"/>
                        </a:rPr>
                        <a:t>Acciaio Inox</a:t>
                      </a:r>
                    </a:p>
                  </a:txBody>
                  <a:tcPr/>
                </a:tc>
                <a:tc>
                  <a:txBody>
                    <a:bodyPr/>
                    <a:lstStyle/>
                    <a:p>
                      <a:pPr lvl="0" algn="l">
                        <a:buNone/>
                      </a:pPr>
                      <a:r>
                        <a:rPr lang="it-IT" sz="1400" b="0" i="0" u="none" strike="noStrike" noProof="0">
                          <a:solidFill>
                            <a:srgbClr val="000000"/>
                          </a:solidFill>
                          <a:effectLst/>
                          <a:latin typeface="Calibri"/>
                        </a:rPr>
                        <a:t>Blocca assialmente il perno laterale</a:t>
                      </a:r>
                      <a:endParaRPr lang="en-US" sz="1400" b="0" i="0" u="none" strike="noStrike" noProof="0">
                        <a:solidFill>
                          <a:srgbClr val="000000"/>
                        </a:solidFill>
                        <a:effectLst/>
                        <a:latin typeface="Calibri"/>
                      </a:endParaRPr>
                    </a:p>
                  </a:txBody>
                  <a:tcPr anchor="ctr"/>
                </a:tc>
                <a:extLst>
                  <a:ext uri="{0D108BD9-81ED-4DB2-BD59-A6C34878D82A}">
                    <a16:rowId xmlns:a16="http://schemas.microsoft.com/office/drawing/2014/main" val="2291698777"/>
                  </a:ext>
                </a:extLst>
              </a:tr>
              <a:tr h="372812">
                <a:tc>
                  <a:txBody>
                    <a:bodyPr/>
                    <a:lstStyle/>
                    <a:p>
                      <a:pPr algn="ctr"/>
                      <a:r>
                        <a:rPr lang="it-IT" sz="1400"/>
                        <a:t>17</a:t>
                      </a:r>
                    </a:p>
                  </a:txBody>
                  <a:tcPr/>
                </a:tc>
                <a:tc>
                  <a:txBody>
                    <a:bodyPr/>
                    <a:lstStyle/>
                    <a:p>
                      <a:r>
                        <a:rPr lang="it-IT" sz="1400" b="0">
                          <a:latin typeface="+mn-lt"/>
                        </a:rPr>
                        <a:t>Vite di accoppiamento</a:t>
                      </a:r>
                    </a:p>
                  </a:txBody>
                  <a:tcPr/>
                </a:tc>
                <a:tc>
                  <a:txBody>
                    <a:bodyPr/>
                    <a:lstStyle/>
                    <a:p>
                      <a:pPr algn="ctr"/>
                      <a:r>
                        <a:rPr lang="it-IT" sz="1400"/>
                        <a:t>4</a:t>
                      </a:r>
                    </a:p>
                  </a:txBody>
                  <a:tcPr/>
                </a:tc>
                <a:tc>
                  <a:txBody>
                    <a:bodyPr/>
                    <a:lstStyle/>
                    <a:p>
                      <a:pPr algn="l"/>
                      <a:r>
                        <a:rPr lang="it-IT" sz="1400">
                          <a:latin typeface="+mn-lt"/>
                        </a:rPr>
                        <a:t>Acciaio al Carbonio</a:t>
                      </a:r>
                    </a:p>
                  </a:txBody>
                  <a:tcPr/>
                </a:tc>
                <a:tc>
                  <a:txBody>
                    <a:bodyPr/>
                    <a:lstStyle/>
                    <a:p>
                      <a:pPr lvl="0" algn="l">
                        <a:buNone/>
                      </a:pPr>
                      <a:r>
                        <a:rPr lang="it-IT" sz="1400" b="0" i="0" u="none" strike="noStrike" noProof="0">
                          <a:solidFill>
                            <a:srgbClr val="000000"/>
                          </a:solidFill>
                          <a:latin typeface="Calibri"/>
                        </a:rPr>
                        <a:t>Realizza accoppiamento tra i 2 supporti</a:t>
                      </a:r>
                    </a:p>
                  </a:txBody>
                  <a:tcPr/>
                </a:tc>
                <a:extLst>
                  <a:ext uri="{0D108BD9-81ED-4DB2-BD59-A6C34878D82A}">
                    <a16:rowId xmlns:a16="http://schemas.microsoft.com/office/drawing/2014/main" val="1840874602"/>
                  </a:ext>
                </a:extLst>
              </a:tr>
              <a:tr h="372812">
                <a:tc>
                  <a:txBody>
                    <a:bodyPr/>
                    <a:lstStyle/>
                    <a:p>
                      <a:pPr algn="ctr"/>
                      <a:r>
                        <a:rPr lang="it-IT" sz="1400"/>
                        <a:t>18</a:t>
                      </a:r>
                    </a:p>
                  </a:txBody>
                  <a:tcPr/>
                </a:tc>
                <a:tc>
                  <a:txBody>
                    <a:bodyPr/>
                    <a:lstStyle/>
                    <a:p>
                      <a:r>
                        <a:rPr lang="it-IT" sz="1400" b="0">
                          <a:latin typeface="+mn-lt"/>
                        </a:rPr>
                        <a:t>Perno laterale</a:t>
                      </a:r>
                      <a:endParaRPr lang="it-IT" sz="1400" b="0" err="1">
                        <a:latin typeface="+mn-lt"/>
                      </a:endParaRPr>
                    </a:p>
                  </a:txBody>
                  <a:tcPr/>
                </a:tc>
                <a:tc>
                  <a:txBody>
                    <a:bodyPr/>
                    <a:lstStyle/>
                    <a:p>
                      <a:pPr algn="ctr"/>
                      <a:r>
                        <a:rPr lang="it-IT" sz="1400"/>
                        <a:t>2</a:t>
                      </a:r>
                    </a:p>
                  </a:txBody>
                  <a:tcPr/>
                </a:tc>
                <a:tc>
                  <a:txBody>
                    <a:bodyPr/>
                    <a:lstStyle/>
                    <a:p>
                      <a:pPr algn="l"/>
                      <a:r>
                        <a:rPr lang="it-IT" sz="1400">
                          <a:latin typeface="+mn-lt"/>
                        </a:rPr>
                        <a:t>Ottone</a:t>
                      </a:r>
                    </a:p>
                  </a:txBody>
                  <a:tcPr anchor="ctr"/>
                </a:tc>
                <a:tc>
                  <a:txBody>
                    <a:bodyPr/>
                    <a:lstStyle/>
                    <a:p>
                      <a:pPr algn="l"/>
                      <a:r>
                        <a:rPr lang="it-IT" sz="1400"/>
                        <a:t>Accoppia leve e supporti</a:t>
                      </a:r>
                      <a:endParaRPr lang="en-US"/>
                    </a:p>
                  </a:txBody>
                  <a:tcPr anchor="ctr"/>
                </a:tc>
                <a:extLst>
                  <a:ext uri="{0D108BD9-81ED-4DB2-BD59-A6C34878D82A}">
                    <a16:rowId xmlns:a16="http://schemas.microsoft.com/office/drawing/2014/main" val="2498160163"/>
                  </a:ext>
                </a:extLst>
              </a:tr>
              <a:tr h="372812">
                <a:tc>
                  <a:txBody>
                    <a:bodyPr/>
                    <a:lstStyle/>
                    <a:p>
                      <a:pPr lvl="0" algn="ctr">
                        <a:buNone/>
                      </a:pPr>
                      <a:r>
                        <a:rPr lang="it-IT" sz="1400"/>
                        <a:t>19</a:t>
                      </a:r>
                    </a:p>
                  </a:txBody>
                  <a:tcPr/>
                </a:tc>
                <a:tc>
                  <a:txBody>
                    <a:bodyPr/>
                    <a:lstStyle/>
                    <a:p>
                      <a:pPr lvl="0">
                        <a:buNone/>
                      </a:pPr>
                      <a:r>
                        <a:rPr lang="it-IT" sz="1400" b="0">
                          <a:latin typeface="+mn-lt"/>
                        </a:rPr>
                        <a:t>Leva Superiore</a:t>
                      </a:r>
                    </a:p>
                  </a:txBody>
                  <a:tcPr/>
                </a:tc>
                <a:tc>
                  <a:txBody>
                    <a:bodyPr/>
                    <a:lstStyle/>
                    <a:p>
                      <a:pPr lvl="0" algn="ctr">
                        <a:buNone/>
                      </a:pPr>
                      <a:r>
                        <a:rPr lang="it-IT" sz="1400"/>
                        <a:t>1</a:t>
                      </a:r>
                    </a:p>
                  </a:txBody>
                  <a:tcPr/>
                </a:tc>
                <a:tc>
                  <a:txBody>
                    <a:bodyPr/>
                    <a:lstStyle/>
                    <a:p>
                      <a:pPr lvl="0" algn="l">
                        <a:buNone/>
                      </a:pPr>
                      <a:r>
                        <a:rPr lang="it-IT" sz="1400">
                          <a:latin typeface="+mn-lt"/>
                        </a:rPr>
                        <a:t>Acciaio Rinforzato</a:t>
                      </a:r>
                    </a:p>
                  </a:txBody>
                  <a:tcPr anchor="ctr"/>
                </a:tc>
                <a:tc>
                  <a:txBody>
                    <a:bodyPr/>
                    <a:lstStyle/>
                    <a:p>
                      <a:pPr lvl="0" algn="l">
                        <a:buNone/>
                      </a:pPr>
                      <a:r>
                        <a:rPr lang="it-IT" sz="1400"/>
                        <a:t>Ruota attorno al perno centrale</a:t>
                      </a:r>
                    </a:p>
                  </a:txBody>
                  <a:tcPr anchor="ctr"/>
                </a:tc>
                <a:extLst>
                  <a:ext uri="{0D108BD9-81ED-4DB2-BD59-A6C34878D82A}">
                    <a16:rowId xmlns:a16="http://schemas.microsoft.com/office/drawing/2014/main" val="480789634"/>
                  </a:ext>
                </a:extLst>
              </a:tr>
              <a:tr h="372812">
                <a:tc>
                  <a:txBody>
                    <a:bodyPr/>
                    <a:lstStyle/>
                    <a:p>
                      <a:pPr algn="ctr"/>
                      <a:r>
                        <a:rPr lang="it-IT" sz="1400"/>
                        <a:t>20</a:t>
                      </a:r>
                    </a:p>
                  </a:txBody>
                  <a:tcPr/>
                </a:tc>
                <a:tc>
                  <a:txBody>
                    <a:bodyPr/>
                    <a:lstStyle/>
                    <a:p>
                      <a:pPr lvl="0">
                        <a:buNone/>
                      </a:pPr>
                      <a:r>
                        <a:rPr lang="it-IT" sz="1400" b="0">
                          <a:latin typeface="+mn-lt"/>
                        </a:rPr>
                        <a:t>Leva Inferiore</a:t>
                      </a:r>
                    </a:p>
                  </a:txBody>
                  <a:tcPr/>
                </a:tc>
                <a:tc>
                  <a:txBody>
                    <a:bodyPr/>
                    <a:lstStyle/>
                    <a:p>
                      <a:pPr algn="ctr"/>
                      <a:r>
                        <a:rPr lang="it-IT" sz="1400"/>
                        <a:t>1</a:t>
                      </a:r>
                    </a:p>
                  </a:txBody>
                  <a:tcPr/>
                </a:tc>
                <a:tc>
                  <a:txBody>
                    <a:bodyPr/>
                    <a:lstStyle/>
                    <a:p>
                      <a:pPr lvl="0" algn="l">
                        <a:buNone/>
                      </a:pPr>
                      <a:r>
                        <a:rPr lang="it-IT" sz="1400" b="0" i="0" u="none" strike="noStrike" noProof="0">
                          <a:solidFill>
                            <a:srgbClr val="000000"/>
                          </a:solidFill>
                          <a:latin typeface="Calibri"/>
                        </a:rPr>
                        <a:t>Acciaio Rinforzato</a:t>
                      </a:r>
                      <a:endParaRPr lang="en-US"/>
                    </a:p>
                  </a:txBody>
                  <a:tcPr/>
                </a:tc>
                <a:tc>
                  <a:txBody>
                    <a:bodyPr/>
                    <a:lstStyle/>
                    <a:p>
                      <a:pPr lvl="0" algn="l">
                        <a:buNone/>
                      </a:pPr>
                      <a:r>
                        <a:rPr lang="it-IT" sz="1400"/>
                        <a:t>Ruota attorno al perno centrale</a:t>
                      </a:r>
                    </a:p>
                  </a:txBody>
                  <a:tcPr/>
                </a:tc>
                <a:extLst>
                  <a:ext uri="{0D108BD9-81ED-4DB2-BD59-A6C34878D82A}">
                    <a16:rowId xmlns:a16="http://schemas.microsoft.com/office/drawing/2014/main" val="101943185"/>
                  </a:ext>
                </a:extLst>
              </a:tr>
              <a:tr h="372812">
                <a:tc>
                  <a:txBody>
                    <a:bodyPr/>
                    <a:lstStyle/>
                    <a:p>
                      <a:pPr algn="ctr"/>
                      <a:r>
                        <a:rPr lang="it-IT" sz="1400"/>
                        <a:t>21</a:t>
                      </a:r>
                    </a:p>
                  </a:txBody>
                  <a:tcPr/>
                </a:tc>
                <a:tc>
                  <a:txBody>
                    <a:bodyPr/>
                    <a:lstStyle/>
                    <a:p>
                      <a:pPr lvl="0">
                        <a:buNone/>
                      </a:pPr>
                      <a:r>
                        <a:rPr lang="it-IT" sz="1400" b="0">
                          <a:latin typeface="+mn-lt"/>
                        </a:rPr>
                        <a:t>Cinghia Gommata</a:t>
                      </a:r>
                    </a:p>
                  </a:txBody>
                  <a:tcPr/>
                </a:tc>
                <a:tc>
                  <a:txBody>
                    <a:bodyPr/>
                    <a:lstStyle/>
                    <a:p>
                      <a:pPr algn="ctr"/>
                      <a:r>
                        <a:rPr lang="it-IT" sz="1400"/>
                        <a:t>1</a:t>
                      </a:r>
                    </a:p>
                  </a:txBody>
                  <a:tcPr/>
                </a:tc>
                <a:tc>
                  <a:txBody>
                    <a:bodyPr/>
                    <a:lstStyle/>
                    <a:p>
                      <a:pPr algn="l"/>
                      <a:r>
                        <a:rPr lang="it-IT" sz="1400">
                          <a:latin typeface="+mn-lt"/>
                        </a:rPr>
                        <a:t>Gomma Rinforzata</a:t>
                      </a:r>
                    </a:p>
                  </a:txBody>
                  <a:tcPr/>
                </a:tc>
                <a:tc>
                  <a:txBody>
                    <a:bodyPr/>
                    <a:lstStyle/>
                    <a:p>
                      <a:pPr lvl="0" algn="l">
                        <a:buNone/>
                      </a:pPr>
                      <a:r>
                        <a:rPr lang="it-IT" sz="1400"/>
                        <a:t>Riporta le leve in posizione di riposo</a:t>
                      </a:r>
                    </a:p>
                  </a:txBody>
                  <a:tcPr/>
                </a:tc>
                <a:extLst>
                  <a:ext uri="{0D108BD9-81ED-4DB2-BD59-A6C34878D82A}">
                    <a16:rowId xmlns:a16="http://schemas.microsoft.com/office/drawing/2014/main" val="3614212565"/>
                  </a:ext>
                </a:extLst>
              </a:tr>
              <a:tr h="292204">
                <a:tc>
                  <a:txBody>
                    <a:bodyPr/>
                    <a:lstStyle/>
                    <a:p>
                      <a:pPr algn="ctr"/>
                      <a:r>
                        <a:rPr lang="it-IT" sz="1400"/>
                        <a:t>22</a:t>
                      </a:r>
                    </a:p>
                  </a:txBody>
                  <a:tcPr/>
                </a:tc>
                <a:tc>
                  <a:txBody>
                    <a:bodyPr/>
                    <a:lstStyle/>
                    <a:p>
                      <a:pPr lvl="0">
                        <a:buNone/>
                      </a:pPr>
                      <a:r>
                        <a:rPr lang="it-IT" sz="1400" b="0">
                          <a:latin typeface="+mn-lt"/>
                        </a:rPr>
                        <a:t>Perno Centrale</a:t>
                      </a:r>
                    </a:p>
                  </a:txBody>
                  <a:tcPr/>
                </a:tc>
                <a:tc>
                  <a:txBody>
                    <a:bodyPr/>
                    <a:lstStyle/>
                    <a:p>
                      <a:pPr algn="ctr"/>
                      <a:r>
                        <a:rPr lang="it-IT" sz="1400"/>
                        <a:t>2</a:t>
                      </a:r>
                    </a:p>
                  </a:txBody>
                  <a:tcPr/>
                </a:tc>
                <a:tc>
                  <a:txBody>
                    <a:bodyPr/>
                    <a:lstStyle/>
                    <a:p>
                      <a:pPr lvl="0" algn="l">
                        <a:buNone/>
                      </a:pPr>
                      <a:r>
                        <a:rPr lang="it-IT" sz="1400">
                          <a:latin typeface="+mn-lt"/>
                        </a:rPr>
                        <a:t>Ottone</a:t>
                      </a:r>
                    </a:p>
                  </a:txBody>
                  <a:tcPr/>
                </a:tc>
                <a:tc>
                  <a:txBody>
                    <a:bodyPr/>
                    <a:lstStyle/>
                    <a:p>
                      <a:pPr lvl="0" algn="l">
                        <a:buNone/>
                      </a:pPr>
                      <a:r>
                        <a:rPr lang="it-IT" sz="1400"/>
                        <a:t>Le leve ruotano sul suo asse</a:t>
                      </a:r>
                      <a:endParaRPr lang="en-US"/>
                    </a:p>
                  </a:txBody>
                  <a:tcPr/>
                </a:tc>
                <a:extLst>
                  <a:ext uri="{0D108BD9-81ED-4DB2-BD59-A6C34878D82A}">
                    <a16:rowId xmlns:a16="http://schemas.microsoft.com/office/drawing/2014/main" val="2839411003"/>
                  </a:ext>
                </a:extLst>
              </a:tr>
              <a:tr h="396657">
                <a:tc>
                  <a:txBody>
                    <a:bodyPr/>
                    <a:lstStyle/>
                    <a:p>
                      <a:pPr lvl="0" algn="ctr">
                        <a:buNone/>
                      </a:pPr>
                      <a:r>
                        <a:rPr lang="it-IT" sz="1400"/>
                        <a:t>23</a:t>
                      </a:r>
                    </a:p>
                  </a:txBody>
                  <a:tcPr/>
                </a:tc>
                <a:tc>
                  <a:txBody>
                    <a:bodyPr/>
                    <a:lstStyle/>
                    <a:p>
                      <a:pPr lvl="0">
                        <a:buNone/>
                      </a:pPr>
                      <a:r>
                        <a:rPr lang="it-IT" sz="1400" b="0">
                          <a:latin typeface="+mn-lt"/>
                        </a:rPr>
                        <a:t>Corpo Centrale</a:t>
                      </a:r>
                    </a:p>
                  </a:txBody>
                  <a:tcPr/>
                </a:tc>
                <a:tc>
                  <a:txBody>
                    <a:bodyPr/>
                    <a:lstStyle/>
                    <a:p>
                      <a:pPr lvl="0" algn="ctr">
                        <a:buNone/>
                      </a:pPr>
                      <a:r>
                        <a:rPr lang="it-IT" sz="1400"/>
                        <a:t>1</a:t>
                      </a:r>
                    </a:p>
                  </a:txBody>
                  <a:tcPr/>
                </a:tc>
                <a:tc>
                  <a:txBody>
                    <a:bodyPr/>
                    <a:lstStyle/>
                    <a:p>
                      <a:pPr lvl="0" algn="l">
                        <a:buNone/>
                      </a:pPr>
                      <a:r>
                        <a:rPr lang="it-IT" sz="1400">
                          <a:latin typeface="+mn-lt"/>
                        </a:rPr>
                        <a:t>Acciaio Rinforzato</a:t>
                      </a:r>
                    </a:p>
                  </a:txBody>
                  <a:tcPr/>
                </a:tc>
                <a:tc>
                  <a:txBody>
                    <a:bodyPr/>
                    <a:lstStyle/>
                    <a:p>
                      <a:pPr lvl="0" algn="l">
                        <a:buNone/>
                      </a:pPr>
                      <a:r>
                        <a:rPr lang="it-IT" sz="1400"/>
                        <a:t>Permette la rotazione attorno all'asse del perno</a:t>
                      </a:r>
                    </a:p>
                  </a:txBody>
                  <a:tcPr/>
                </a:tc>
                <a:extLst>
                  <a:ext uri="{0D108BD9-81ED-4DB2-BD59-A6C34878D82A}">
                    <a16:rowId xmlns:a16="http://schemas.microsoft.com/office/drawing/2014/main" val="2242431226"/>
                  </a:ext>
                </a:extLst>
              </a:tr>
            </a:tbl>
          </a:graphicData>
        </a:graphic>
      </p:graphicFrame>
    </p:spTree>
    <p:extLst>
      <p:ext uri="{BB962C8B-B14F-4D97-AF65-F5344CB8AC3E}">
        <p14:creationId xmlns:p14="http://schemas.microsoft.com/office/powerpoint/2010/main" val="4169939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B5A94-87FE-75A5-F2E9-DA9E2EEBFBB7}"/>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FF835349-BDBA-6119-0F32-DA03CF7BCD1B}"/>
              </a:ext>
            </a:extLst>
          </p:cNvPr>
          <p:cNvSpPr txBox="1"/>
          <p:nvPr/>
        </p:nvSpPr>
        <p:spPr>
          <a:xfrm>
            <a:off x="335360" y="436022"/>
            <a:ext cx="7056784" cy="646331"/>
          </a:xfrm>
          <a:prstGeom prst="rect">
            <a:avLst/>
          </a:prstGeom>
          <a:noFill/>
        </p:spPr>
        <p:txBody>
          <a:bodyPr wrap="square">
            <a:spAutoFit/>
          </a:bodyPr>
          <a:lstStyle/>
          <a:p>
            <a:r>
              <a:rPr lang="it-IT" sz="3600" b="1">
                <a:solidFill>
                  <a:srgbClr val="BD2B0B"/>
                </a:solidFill>
              </a:rPr>
              <a:t>PARTI DELL’ASSIEME</a:t>
            </a:r>
            <a:endParaRPr lang="it-IT" sz="3600">
              <a:solidFill>
                <a:srgbClr val="BD2B0B"/>
              </a:solidFill>
            </a:endParaRPr>
          </a:p>
        </p:txBody>
      </p:sp>
      <p:pic>
        <p:nvPicPr>
          <p:cNvPr id="6" name="Immagine 5" descr="Immagine che contiene design&#10;&#10;Il contenuto generato dall'IA potrebbe non essere corretto.">
            <a:extLst>
              <a:ext uri="{FF2B5EF4-FFF2-40B4-BE49-F238E27FC236}">
                <a16:creationId xmlns:a16="http://schemas.microsoft.com/office/drawing/2014/main" id="{32F95176-1911-371C-13C4-2118150B335D}"/>
              </a:ext>
            </a:extLst>
          </p:cNvPr>
          <p:cNvPicPr>
            <a:picLocks noChangeAspect="1"/>
          </p:cNvPicPr>
          <p:nvPr/>
        </p:nvPicPr>
        <p:blipFill>
          <a:blip r:embed="rId2">
            <a:extLst>
              <a:ext uri="{28A0092B-C50C-407E-A947-70E740481C1C}">
                <a14:useLocalDpi xmlns:a14="http://schemas.microsoft.com/office/drawing/2010/main" val="0"/>
              </a:ext>
            </a:extLst>
          </a:blip>
          <a:srcRect b="6805"/>
          <a:stretch/>
        </p:blipFill>
        <p:spPr>
          <a:xfrm>
            <a:off x="221688" y="1169426"/>
            <a:ext cx="6594392" cy="4820842"/>
          </a:xfrm>
          <a:prstGeom prst="rect">
            <a:avLst/>
          </a:prstGeom>
        </p:spPr>
      </p:pic>
      <p:sp>
        <p:nvSpPr>
          <p:cNvPr id="7" name="CasellaDiTesto 6">
            <a:extLst>
              <a:ext uri="{FF2B5EF4-FFF2-40B4-BE49-F238E27FC236}">
                <a16:creationId xmlns:a16="http://schemas.microsoft.com/office/drawing/2014/main" id="{75DA11C6-5E50-508F-79B0-D85DC8EB25BB}"/>
              </a:ext>
            </a:extLst>
          </p:cNvPr>
          <p:cNvSpPr txBox="1"/>
          <p:nvPr/>
        </p:nvSpPr>
        <p:spPr>
          <a:xfrm>
            <a:off x="6816080" y="1556792"/>
            <a:ext cx="5042972" cy="1477328"/>
          </a:xfrm>
          <a:prstGeom prst="rect">
            <a:avLst/>
          </a:prstGeom>
          <a:noFill/>
        </p:spPr>
        <p:txBody>
          <a:bodyPr wrap="square" lIns="91440" tIns="45720" rIns="91440" bIns="45720" anchor="t">
            <a:spAutoFit/>
          </a:bodyPr>
          <a:lstStyle/>
          <a:p>
            <a:r>
              <a:rPr lang="it-IT" b="1" dirty="0">
                <a:solidFill>
                  <a:srgbClr val="00FF00"/>
                </a:solidFill>
              </a:rPr>
              <a:t>UNITÀ FRENANTE</a:t>
            </a:r>
          </a:p>
          <a:p>
            <a:pPr algn="just"/>
            <a:r>
              <a:rPr lang="it-IT" dirty="0"/>
              <a:t>Qui si trovano le pinze freno che stringono il disco o     l’elemento frenato. All’interno, sono alloggiate le pastiglie di attrito che trasmette la forza frenante tramite attrito secco.</a:t>
            </a:r>
            <a:endParaRPr lang="it-IT" dirty="0">
              <a:ea typeface="Calibri"/>
              <a:cs typeface="Calibri"/>
            </a:endParaRPr>
          </a:p>
        </p:txBody>
      </p:sp>
      <p:sp>
        <p:nvSpPr>
          <p:cNvPr id="9" name="CasellaDiTesto 8">
            <a:extLst>
              <a:ext uri="{FF2B5EF4-FFF2-40B4-BE49-F238E27FC236}">
                <a16:creationId xmlns:a16="http://schemas.microsoft.com/office/drawing/2014/main" id="{F254ED6C-A529-77A2-A964-415998EF6E75}"/>
              </a:ext>
            </a:extLst>
          </p:cNvPr>
          <p:cNvSpPr txBox="1"/>
          <p:nvPr/>
        </p:nvSpPr>
        <p:spPr>
          <a:xfrm>
            <a:off x="6816080" y="3167573"/>
            <a:ext cx="5042973" cy="1200329"/>
          </a:xfrm>
          <a:prstGeom prst="rect">
            <a:avLst/>
          </a:prstGeom>
          <a:noFill/>
        </p:spPr>
        <p:txBody>
          <a:bodyPr wrap="square" lIns="91440" tIns="45720" rIns="91440" bIns="45720" anchor="t">
            <a:spAutoFit/>
          </a:bodyPr>
          <a:lstStyle/>
          <a:p>
            <a:r>
              <a:rPr lang="it-IT" b="1" dirty="0">
                <a:solidFill>
                  <a:srgbClr val="000099"/>
                </a:solidFill>
              </a:rPr>
              <a:t>STRUTTURA PORTANTE</a:t>
            </a:r>
          </a:p>
          <a:p>
            <a:pPr algn="just"/>
            <a:r>
              <a:rPr lang="it-IT" dirty="0"/>
              <a:t>Collega la pinza al corpo centrale, trasmettendo la forza di chiusura dal meccanismo centrale (attuazione) alle ganasce. </a:t>
            </a:r>
            <a:endParaRPr lang="it-IT" dirty="0">
              <a:ea typeface="Calibri"/>
              <a:cs typeface="Calibri"/>
            </a:endParaRPr>
          </a:p>
        </p:txBody>
      </p:sp>
      <p:sp>
        <p:nvSpPr>
          <p:cNvPr id="11" name="CasellaDiTesto 10">
            <a:extLst>
              <a:ext uri="{FF2B5EF4-FFF2-40B4-BE49-F238E27FC236}">
                <a16:creationId xmlns:a16="http://schemas.microsoft.com/office/drawing/2014/main" id="{C1A62F2A-40C8-4EE6-BCE0-71CE707E4E95}"/>
              </a:ext>
            </a:extLst>
          </p:cNvPr>
          <p:cNvSpPr txBox="1"/>
          <p:nvPr/>
        </p:nvSpPr>
        <p:spPr>
          <a:xfrm>
            <a:off x="6816080" y="4501355"/>
            <a:ext cx="5042972" cy="1477328"/>
          </a:xfrm>
          <a:prstGeom prst="rect">
            <a:avLst/>
          </a:prstGeom>
          <a:noFill/>
        </p:spPr>
        <p:txBody>
          <a:bodyPr wrap="square" lIns="91440" tIns="45720" rIns="91440" bIns="45720" anchor="t">
            <a:spAutoFit/>
          </a:bodyPr>
          <a:lstStyle/>
          <a:p>
            <a:r>
              <a:rPr lang="it-IT" b="1" dirty="0">
                <a:solidFill>
                  <a:srgbClr val="FF0000"/>
                </a:solidFill>
              </a:rPr>
              <a:t>CORPO COMANDO	</a:t>
            </a:r>
          </a:p>
          <a:p>
            <a:pPr algn="just"/>
            <a:r>
              <a:rPr lang="it-IT" dirty="0"/>
              <a:t>È la parte che genera la forza di frenata, nel nostro caso un cilindro idraulico, che agisce sulla leva e, in altri casi, potrebbe agire direttamente sulla pinza.	</a:t>
            </a:r>
            <a:endParaRPr lang="it-IT" dirty="0">
              <a:ea typeface="Calibri"/>
              <a:cs typeface="Calibri"/>
            </a:endParaRPr>
          </a:p>
        </p:txBody>
      </p:sp>
    </p:spTree>
    <p:extLst>
      <p:ext uri="{BB962C8B-B14F-4D97-AF65-F5344CB8AC3E}">
        <p14:creationId xmlns:p14="http://schemas.microsoft.com/office/powerpoint/2010/main" val="3993425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0C15A-5380-BC3B-3A1E-A880F85A21E2}"/>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CCAA6EAA-5835-EDC1-D460-984913520561}"/>
              </a:ext>
            </a:extLst>
          </p:cNvPr>
          <p:cNvSpPr txBox="1"/>
          <p:nvPr/>
        </p:nvSpPr>
        <p:spPr>
          <a:xfrm>
            <a:off x="291186" y="292457"/>
            <a:ext cx="7056784" cy="646331"/>
          </a:xfrm>
          <a:prstGeom prst="rect">
            <a:avLst/>
          </a:prstGeom>
          <a:noFill/>
        </p:spPr>
        <p:txBody>
          <a:bodyPr wrap="square">
            <a:spAutoFit/>
          </a:bodyPr>
          <a:lstStyle/>
          <a:p>
            <a:r>
              <a:rPr lang="it-IT" sz="3600" b="1">
                <a:solidFill>
                  <a:srgbClr val="BD2B0B"/>
                </a:solidFill>
              </a:rPr>
              <a:t>CORPO COMANDO</a:t>
            </a:r>
          </a:p>
        </p:txBody>
      </p:sp>
      <p:pic>
        <p:nvPicPr>
          <p:cNvPr id="8" name="Picture 7" descr="A drawing of a machine&#10;&#10;AI-generated content may be incorrect.">
            <a:extLst>
              <a:ext uri="{FF2B5EF4-FFF2-40B4-BE49-F238E27FC236}">
                <a16:creationId xmlns:a16="http://schemas.microsoft.com/office/drawing/2014/main" id="{A17FE430-9CB5-EA0A-617D-4A2978A09B7C}"/>
              </a:ext>
            </a:extLst>
          </p:cNvPr>
          <p:cNvPicPr>
            <a:picLocks noChangeAspect="1"/>
          </p:cNvPicPr>
          <p:nvPr/>
        </p:nvPicPr>
        <p:blipFill>
          <a:blip r:embed="rId2"/>
          <a:stretch>
            <a:fillRect/>
          </a:stretch>
        </p:blipFill>
        <p:spPr>
          <a:xfrm>
            <a:off x="7539286" y="287130"/>
            <a:ext cx="4446297" cy="5797826"/>
          </a:xfrm>
          <a:prstGeom prst="rect">
            <a:avLst/>
          </a:prstGeom>
        </p:spPr>
      </p:pic>
      <p:sp>
        <p:nvSpPr>
          <p:cNvPr id="9" name="TextBox 8">
            <a:extLst>
              <a:ext uri="{FF2B5EF4-FFF2-40B4-BE49-F238E27FC236}">
                <a16:creationId xmlns:a16="http://schemas.microsoft.com/office/drawing/2014/main" id="{736B45BE-0628-4DCC-D12F-B68B1436431B}"/>
              </a:ext>
            </a:extLst>
          </p:cNvPr>
          <p:cNvSpPr txBox="1"/>
          <p:nvPr/>
        </p:nvSpPr>
        <p:spPr>
          <a:xfrm>
            <a:off x="629478" y="1303130"/>
            <a:ext cx="2962676" cy="4524315"/>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ea typeface="Calibri"/>
                <a:cs typeface="Calibri"/>
              </a:rPr>
              <a:t>Stelo</a:t>
            </a:r>
            <a:r>
              <a:rPr lang="en-US">
                <a:ea typeface="Calibri"/>
                <a:cs typeface="Calibri"/>
              </a:rPr>
              <a:t> </a:t>
            </a:r>
            <a:r>
              <a:rPr lang="en-US" err="1">
                <a:ea typeface="Calibri"/>
                <a:cs typeface="Calibri"/>
              </a:rPr>
              <a:t>Idraulico</a:t>
            </a:r>
            <a:r>
              <a:rPr lang="en-US">
                <a:ea typeface="Calibri"/>
                <a:cs typeface="Calibri"/>
              </a:rPr>
              <a:t>, 1</a:t>
            </a:r>
          </a:p>
          <a:p>
            <a:r>
              <a:rPr lang="en-US">
                <a:ea typeface="Calibri"/>
                <a:cs typeface="Calibri"/>
              </a:rPr>
              <a:t>  </a:t>
            </a:r>
          </a:p>
          <a:p>
            <a:r>
              <a:rPr lang="en-US">
                <a:ea typeface="Calibri"/>
                <a:cs typeface="Calibri"/>
              </a:rPr>
              <a:t>Guida </a:t>
            </a:r>
            <a:r>
              <a:rPr lang="en-US" err="1">
                <a:ea typeface="Calibri"/>
                <a:cs typeface="Calibri"/>
              </a:rPr>
              <a:t>Stelo</a:t>
            </a:r>
            <a:r>
              <a:rPr lang="en-US">
                <a:ea typeface="Calibri"/>
                <a:cs typeface="Calibri"/>
              </a:rPr>
              <a:t>, 2</a:t>
            </a:r>
          </a:p>
          <a:p>
            <a:endParaRPr lang="en-US">
              <a:ea typeface="Calibri"/>
              <a:cs typeface="Calibri"/>
            </a:endParaRPr>
          </a:p>
          <a:p>
            <a:r>
              <a:rPr lang="en-US">
                <a:ea typeface="Calibri"/>
                <a:cs typeface="Calibri"/>
              </a:rPr>
              <a:t>Viti di </a:t>
            </a:r>
            <a:r>
              <a:rPr lang="en-US" err="1">
                <a:ea typeface="Calibri"/>
                <a:cs typeface="Calibri"/>
              </a:rPr>
              <a:t>Fissaggio</a:t>
            </a:r>
            <a:r>
              <a:rPr lang="en-US">
                <a:ea typeface="Calibri"/>
                <a:cs typeface="Calibri"/>
              </a:rPr>
              <a:t>, 3</a:t>
            </a:r>
          </a:p>
          <a:p>
            <a:endParaRPr lang="en-US">
              <a:ea typeface="Calibri"/>
              <a:cs typeface="Calibri"/>
            </a:endParaRPr>
          </a:p>
          <a:p>
            <a:r>
              <a:rPr lang="en-US">
                <a:ea typeface="Calibri"/>
                <a:cs typeface="Calibri"/>
              </a:rPr>
              <a:t>Dadi per </a:t>
            </a:r>
            <a:r>
              <a:rPr lang="en-US" err="1">
                <a:ea typeface="Calibri"/>
                <a:cs typeface="Calibri"/>
              </a:rPr>
              <a:t>viti</a:t>
            </a:r>
            <a:r>
              <a:rPr lang="en-US">
                <a:ea typeface="Calibri"/>
                <a:cs typeface="Calibri"/>
              </a:rPr>
              <a:t> di </a:t>
            </a:r>
            <a:r>
              <a:rPr lang="en-US" err="1">
                <a:ea typeface="Calibri"/>
                <a:cs typeface="Calibri"/>
              </a:rPr>
              <a:t>fissaggio</a:t>
            </a:r>
            <a:r>
              <a:rPr lang="en-US">
                <a:ea typeface="Calibri"/>
                <a:cs typeface="Calibri"/>
              </a:rPr>
              <a:t>, 3b</a:t>
            </a:r>
          </a:p>
          <a:p>
            <a:endParaRPr lang="en-US">
              <a:ea typeface="Calibri"/>
              <a:cs typeface="Calibri"/>
            </a:endParaRPr>
          </a:p>
          <a:p>
            <a:r>
              <a:rPr lang="en-US">
                <a:ea typeface="Calibri"/>
                <a:cs typeface="Calibri"/>
              </a:rPr>
              <a:t>Corpo Superiore, 4</a:t>
            </a:r>
          </a:p>
          <a:p>
            <a:endParaRPr lang="en-US">
              <a:ea typeface="Calibri"/>
              <a:cs typeface="Calibri"/>
            </a:endParaRPr>
          </a:p>
          <a:p>
            <a:r>
              <a:rPr lang="en-US" err="1">
                <a:ea typeface="Calibri"/>
                <a:cs typeface="Calibri"/>
              </a:rPr>
              <a:t>Tappo</a:t>
            </a:r>
            <a:r>
              <a:rPr lang="en-US">
                <a:ea typeface="Calibri"/>
                <a:cs typeface="Calibri"/>
              </a:rPr>
              <a:t> Superiore, 5</a:t>
            </a:r>
          </a:p>
          <a:p>
            <a:endParaRPr lang="en-US">
              <a:ea typeface="Calibri"/>
              <a:cs typeface="Calibri"/>
            </a:endParaRPr>
          </a:p>
          <a:p>
            <a:r>
              <a:rPr lang="en-US" err="1">
                <a:ea typeface="Calibri"/>
                <a:cs typeface="Calibri"/>
              </a:rPr>
              <a:t>Tappo</a:t>
            </a:r>
            <a:r>
              <a:rPr lang="en-US">
                <a:ea typeface="Calibri"/>
                <a:cs typeface="Calibri"/>
              </a:rPr>
              <a:t> </a:t>
            </a:r>
            <a:r>
              <a:rPr lang="en-US" err="1">
                <a:ea typeface="Calibri"/>
                <a:cs typeface="Calibri"/>
              </a:rPr>
              <a:t>Inferiore</a:t>
            </a:r>
            <a:r>
              <a:rPr lang="en-US">
                <a:ea typeface="Calibri"/>
                <a:cs typeface="Calibri"/>
              </a:rPr>
              <a:t>, 6</a:t>
            </a:r>
          </a:p>
          <a:p>
            <a:endParaRPr lang="en-US">
              <a:ea typeface="Calibri"/>
              <a:cs typeface="Calibri"/>
            </a:endParaRPr>
          </a:p>
          <a:p>
            <a:pPr marL="342900" indent="-342900">
              <a:buAutoNum type="arabicPeriod"/>
            </a:pPr>
            <a:endParaRPr lang="en-US">
              <a:ea typeface="Calibri"/>
              <a:cs typeface="Calibri"/>
            </a:endParaRPr>
          </a:p>
          <a:p>
            <a:pPr marL="342900" indent="-342900">
              <a:buAutoNum type="arabicPeriod"/>
            </a:pPr>
            <a:endParaRPr lang="en-US">
              <a:ea typeface="Calibri"/>
              <a:cs typeface="Calibri"/>
            </a:endParaRPr>
          </a:p>
        </p:txBody>
      </p:sp>
      <p:sp>
        <p:nvSpPr>
          <p:cNvPr id="10" name="TextBox 9">
            <a:extLst>
              <a:ext uri="{FF2B5EF4-FFF2-40B4-BE49-F238E27FC236}">
                <a16:creationId xmlns:a16="http://schemas.microsoft.com/office/drawing/2014/main" id="{2BF52CC5-3191-9058-C779-5279146F6839}"/>
              </a:ext>
            </a:extLst>
          </p:cNvPr>
          <p:cNvSpPr txBox="1"/>
          <p:nvPr/>
        </p:nvSpPr>
        <p:spPr>
          <a:xfrm>
            <a:off x="4192043" y="1728592"/>
            <a:ext cx="2743200" cy="2913618"/>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971"/>
              </a:lnSpc>
            </a:pPr>
            <a:r>
              <a:rPr lang="en-US"/>
              <a:t>Corpo </a:t>
            </a:r>
            <a:r>
              <a:rPr lang="en-US" err="1"/>
              <a:t>Inferiore</a:t>
            </a:r>
            <a:r>
              <a:rPr lang="en-US"/>
              <a:t>, 7</a:t>
            </a:r>
            <a:endParaRPr lang="en-US">
              <a:ea typeface="Calibri"/>
              <a:cs typeface="Calibri"/>
            </a:endParaRPr>
          </a:p>
          <a:p>
            <a:pPr>
              <a:lnSpc>
                <a:spcPts val="1971"/>
              </a:lnSpc>
            </a:pPr>
            <a:endParaRPr lang="en-US"/>
          </a:p>
          <a:p>
            <a:pPr>
              <a:lnSpc>
                <a:spcPts val="1971"/>
              </a:lnSpc>
            </a:pPr>
            <a:r>
              <a:rPr lang="en-US"/>
              <a:t>Vite Guida Pistone, 8</a:t>
            </a:r>
            <a:endParaRPr lang="en-US">
              <a:ea typeface="Calibri"/>
              <a:cs typeface="Calibri"/>
            </a:endParaRPr>
          </a:p>
          <a:p>
            <a:pPr>
              <a:lnSpc>
                <a:spcPts val="1971"/>
              </a:lnSpc>
            </a:pPr>
            <a:endParaRPr lang="en-US"/>
          </a:p>
          <a:p>
            <a:pPr>
              <a:lnSpc>
                <a:spcPts val="1971"/>
              </a:lnSpc>
            </a:pPr>
            <a:r>
              <a:rPr lang="en-US"/>
              <a:t>Dado Vite Guida, 9</a:t>
            </a:r>
            <a:endParaRPr lang="en-US">
              <a:ea typeface="Calibri"/>
              <a:cs typeface="Calibri"/>
            </a:endParaRPr>
          </a:p>
          <a:p>
            <a:pPr>
              <a:lnSpc>
                <a:spcPts val="1971"/>
              </a:lnSpc>
            </a:pPr>
            <a:endParaRPr lang="en-US"/>
          </a:p>
          <a:p>
            <a:pPr>
              <a:lnSpc>
                <a:spcPts val="1971"/>
              </a:lnSpc>
            </a:pPr>
            <a:r>
              <a:rPr lang="en-US"/>
              <a:t>Pistone </a:t>
            </a:r>
            <a:r>
              <a:rPr lang="en-US" err="1"/>
              <a:t>Idraulico</a:t>
            </a:r>
            <a:r>
              <a:rPr lang="en-US"/>
              <a:t>, 10</a:t>
            </a:r>
            <a:endParaRPr lang="en-US" err="1">
              <a:ea typeface="Calibri"/>
              <a:cs typeface="Calibri"/>
            </a:endParaRPr>
          </a:p>
          <a:p>
            <a:pPr>
              <a:lnSpc>
                <a:spcPts val="1971"/>
              </a:lnSpc>
            </a:pPr>
            <a:endParaRPr lang="en-US">
              <a:ea typeface="Calibri"/>
              <a:cs typeface="Calibri"/>
            </a:endParaRPr>
          </a:p>
          <a:p>
            <a:pPr>
              <a:lnSpc>
                <a:spcPts val="1971"/>
              </a:lnSpc>
            </a:pPr>
            <a:r>
              <a:rPr lang="en-US"/>
              <a:t>Vite di </a:t>
            </a:r>
            <a:r>
              <a:rPr lang="en-US" err="1"/>
              <a:t>Attuazione</a:t>
            </a:r>
            <a:r>
              <a:rPr lang="en-US"/>
              <a:t>, 11</a:t>
            </a:r>
            <a:endParaRPr lang="en-US" err="1">
              <a:ea typeface="Calibri"/>
              <a:cs typeface="Calibri"/>
            </a:endParaRPr>
          </a:p>
          <a:p>
            <a:pPr>
              <a:lnSpc>
                <a:spcPts val="1971"/>
              </a:lnSpc>
            </a:pPr>
            <a:endParaRPr lang="en-US"/>
          </a:p>
          <a:p>
            <a:pPr>
              <a:lnSpc>
                <a:spcPts val="1971"/>
              </a:lnSpc>
            </a:pPr>
            <a:r>
              <a:rPr lang="en-US"/>
              <a:t>Dado Vite di </a:t>
            </a:r>
            <a:r>
              <a:rPr lang="en-US" err="1"/>
              <a:t>Attuazione</a:t>
            </a:r>
            <a:r>
              <a:rPr lang="en-US"/>
              <a:t>​, 12</a:t>
            </a:r>
            <a:endParaRPr lang="en-US">
              <a:ea typeface="Calibri"/>
              <a:cs typeface="Calibri"/>
            </a:endParaRPr>
          </a:p>
        </p:txBody>
      </p:sp>
    </p:spTree>
    <p:extLst>
      <p:ext uri="{BB962C8B-B14F-4D97-AF65-F5344CB8AC3E}">
        <p14:creationId xmlns:p14="http://schemas.microsoft.com/office/powerpoint/2010/main" val="3860530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33FFB-05B4-7719-DE2C-E13701FB180D}"/>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C1E50859-3EE0-7019-9C2B-6C26975D1256}"/>
              </a:ext>
            </a:extLst>
          </p:cNvPr>
          <p:cNvSpPr txBox="1"/>
          <p:nvPr/>
        </p:nvSpPr>
        <p:spPr>
          <a:xfrm>
            <a:off x="335360" y="404664"/>
            <a:ext cx="7056784" cy="646331"/>
          </a:xfrm>
          <a:prstGeom prst="rect">
            <a:avLst/>
          </a:prstGeom>
          <a:noFill/>
        </p:spPr>
        <p:txBody>
          <a:bodyPr wrap="square">
            <a:spAutoFit/>
          </a:bodyPr>
          <a:lstStyle/>
          <a:p>
            <a:r>
              <a:rPr lang="it-IT" sz="3600" b="1">
                <a:solidFill>
                  <a:srgbClr val="BD2B0B"/>
                </a:solidFill>
              </a:rPr>
              <a:t>UNITÀ FRENANTE</a:t>
            </a:r>
            <a:endParaRPr lang="it-IT" sz="3600">
              <a:solidFill>
                <a:srgbClr val="BD2B0B"/>
              </a:solidFill>
            </a:endParaRPr>
          </a:p>
        </p:txBody>
      </p:sp>
      <p:pic>
        <p:nvPicPr>
          <p:cNvPr id="3" name="Picture 2" descr="A drawing of a machine&#10;&#10;AI-generated content may be incorrect.">
            <a:extLst>
              <a:ext uri="{FF2B5EF4-FFF2-40B4-BE49-F238E27FC236}">
                <a16:creationId xmlns:a16="http://schemas.microsoft.com/office/drawing/2014/main" id="{34150B23-4D07-3A49-B736-05E4B70AE8FE}"/>
              </a:ext>
            </a:extLst>
          </p:cNvPr>
          <p:cNvPicPr>
            <a:picLocks noChangeAspect="1"/>
          </p:cNvPicPr>
          <p:nvPr/>
        </p:nvPicPr>
        <p:blipFill>
          <a:blip r:embed="rId2"/>
          <a:stretch>
            <a:fillRect/>
          </a:stretch>
        </p:blipFill>
        <p:spPr>
          <a:xfrm>
            <a:off x="6603781" y="156575"/>
            <a:ext cx="5393589" cy="5939425"/>
          </a:xfrm>
          <a:prstGeom prst="rect">
            <a:avLst/>
          </a:prstGeom>
        </p:spPr>
      </p:pic>
      <p:sp>
        <p:nvSpPr>
          <p:cNvPr id="4" name="TextBox 3">
            <a:extLst>
              <a:ext uri="{FF2B5EF4-FFF2-40B4-BE49-F238E27FC236}">
                <a16:creationId xmlns:a16="http://schemas.microsoft.com/office/drawing/2014/main" id="{40E39C58-B5AA-24D8-4E7E-505E13A30308}"/>
              </a:ext>
            </a:extLst>
          </p:cNvPr>
          <p:cNvSpPr txBox="1"/>
          <p:nvPr/>
        </p:nvSpPr>
        <p:spPr>
          <a:xfrm>
            <a:off x="1503123" y="1858028"/>
            <a:ext cx="3308958" cy="3416320"/>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Supporto Leva, 13</a:t>
            </a:r>
          </a:p>
          <a:p>
            <a:endParaRPr lang="en-US">
              <a:ea typeface="Calibri"/>
              <a:cs typeface="Calibri"/>
            </a:endParaRPr>
          </a:p>
          <a:p>
            <a:r>
              <a:rPr lang="en-US">
                <a:ea typeface="Calibri"/>
                <a:cs typeface="Calibri"/>
              </a:rPr>
              <a:t>Supporto "a L" </a:t>
            </a:r>
            <a:r>
              <a:rPr lang="en-US" err="1">
                <a:ea typeface="Calibri"/>
                <a:cs typeface="Calibri"/>
              </a:rPr>
              <a:t>pastiglie</a:t>
            </a:r>
            <a:r>
              <a:rPr lang="en-US">
                <a:ea typeface="Calibri"/>
                <a:cs typeface="Calibri"/>
              </a:rPr>
              <a:t>, 14</a:t>
            </a:r>
          </a:p>
          <a:p>
            <a:endParaRPr lang="en-US">
              <a:ea typeface="Calibri"/>
              <a:cs typeface="Calibri"/>
            </a:endParaRPr>
          </a:p>
          <a:p>
            <a:r>
              <a:rPr lang="en-US">
                <a:ea typeface="Calibri"/>
                <a:cs typeface="Calibri"/>
              </a:rPr>
              <a:t>Pastiglia, 15</a:t>
            </a:r>
          </a:p>
          <a:p>
            <a:endParaRPr lang="en-US">
              <a:ea typeface="Calibri"/>
              <a:cs typeface="Calibri"/>
            </a:endParaRPr>
          </a:p>
          <a:p>
            <a:r>
              <a:rPr lang="en-US">
                <a:ea typeface="Calibri"/>
                <a:cs typeface="Calibri"/>
              </a:rPr>
              <a:t>Seeger, 16</a:t>
            </a:r>
          </a:p>
          <a:p>
            <a:endParaRPr lang="en-US">
              <a:ea typeface="Calibri"/>
              <a:cs typeface="Calibri"/>
            </a:endParaRPr>
          </a:p>
          <a:p>
            <a:r>
              <a:rPr lang="en-US">
                <a:ea typeface="Calibri"/>
                <a:cs typeface="Calibri"/>
              </a:rPr>
              <a:t>Vite di </a:t>
            </a:r>
            <a:r>
              <a:rPr lang="en-US" err="1">
                <a:ea typeface="Calibri"/>
                <a:cs typeface="Calibri"/>
              </a:rPr>
              <a:t>Accoppiamento</a:t>
            </a:r>
            <a:r>
              <a:rPr lang="en-US">
                <a:ea typeface="Calibri"/>
                <a:cs typeface="Calibri"/>
              </a:rPr>
              <a:t>, 17</a:t>
            </a:r>
          </a:p>
          <a:p>
            <a:endParaRPr lang="en-US">
              <a:ea typeface="Calibri"/>
              <a:cs typeface="Calibri"/>
            </a:endParaRPr>
          </a:p>
          <a:p>
            <a:r>
              <a:rPr lang="en-US">
                <a:ea typeface="Calibri"/>
                <a:cs typeface="Calibri"/>
              </a:rPr>
              <a:t>Perno </a:t>
            </a:r>
            <a:r>
              <a:rPr lang="en-US" err="1">
                <a:ea typeface="Calibri"/>
                <a:cs typeface="Calibri"/>
              </a:rPr>
              <a:t>laterale</a:t>
            </a:r>
            <a:r>
              <a:rPr lang="en-US">
                <a:ea typeface="Calibri"/>
                <a:cs typeface="Calibri"/>
              </a:rPr>
              <a:t>, 18</a:t>
            </a:r>
          </a:p>
          <a:p>
            <a:endParaRPr lang="en-US">
              <a:ea typeface="Calibri"/>
              <a:cs typeface="Calibri"/>
            </a:endParaRPr>
          </a:p>
        </p:txBody>
      </p:sp>
    </p:spTree>
    <p:extLst>
      <p:ext uri="{BB962C8B-B14F-4D97-AF65-F5344CB8AC3E}">
        <p14:creationId xmlns:p14="http://schemas.microsoft.com/office/powerpoint/2010/main" val="3368229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479C5-4017-885E-2F81-BF6E08A021AF}"/>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DF92A0FB-3E8E-52D7-99CF-A03B79BF3BE5}"/>
              </a:ext>
            </a:extLst>
          </p:cNvPr>
          <p:cNvSpPr txBox="1"/>
          <p:nvPr/>
        </p:nvSpPr>
        <p:spPr>
          <a:xfrm>
            <a:off x="335360" y="436022"/>
            <a:ext cx="7056784" cy="646331"/>
          </a:xfrm>
          <a:prstGeom prst="rect">
            <a:avLst/>
          </a:prstGeom>
          <a:noFill/>
        </p:spPr>
        <p:txBody>
          <a:bodyPr wrap="square">
            <a:spAutoFit/>
          </a:bodyPr>
          <a:lstStyle/>
          <a:p>
            <a:r>
              <a:rPr lang="it-IT" sz="3600" b="1">
                <a:solidFill>
                  <a:srgbClr val="BD2B0B"/>
                </a:solidFill>
              </a:rPr>
              <a:t>STRUTTURA PORTANTE</a:t>
            </a:r>
            <a:endParaRPr lang="it-IT" sz="3600">
              <a:solidFill>
                <a:srgbClr val="BD2B0B"/>
              </a:solidFill>
            </a:endParaRPr>
          </a:p>
        </p:txBody>
      </p:sp>
      <p:sp>
        <p:nvSpPr>
          <p:cNvPr id="8" name="Rectangle 2">
            <a:extLst>
              <a:ext uri="{FF2B5EF4-FFF2-40B4-BE49-F238E27FC236}">
                <a16:creationId xmlns:a16="http://schemas.microsoft.com/office/drawing/2014/main" id="{82A2C908-2169-E164-5076-7471178AE879}"/>
              </a:ext>
            </a:extLst>
          </p:cNvPr>
          <p:cNvSpPr>
            <a:spLocks noChangeArrowheads="1"/>
          </p:cNvSpPr>
          <p:nvPr/>
        </p:nvSpPr>
        <p:spPr bwMode="auto">
          <a:xfrm>
            <a:off x="10416480" y="2195572"/>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1800" b="0" i="0" u="none" strike="noStrike" cap="none" normalizeH="0" baseline="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64576978-3308-81E3-6F9B-4FF096B1153F}"/>
              </a:ext>
            </a:extLst>
          </p:cNvPr>
          <p:cNvPicPr>
            <a:picLocks noChangeAspect="1"/>
          </p:cNvPicPr>
          <p:nvPr/>
        </p:nvPicPr>
        <p:blipFill>
          <a:blip r:embed="rId2"/>
          <a:stretch>
            <a:fillRect/>
          </a:stretch>
        </p:blipFill>
        <p:spPr>
          <a:xfrm>
            <a:off x="5043813" y="1159832"/>
            <a:ext cx="6958209" cy="4674035"/>
          </a:xfrm>
          <a:prstGeom prst="rect">
            <a:avLst/>
          </a:prstGeom>
        </p:spPr>
      </p:pic>
      <p:sp>
        <p:nvSpPr>
          <p:cNvPr id="7" name="TextBox 6">
            <a:extLst>
              <a:ext uri="{FF2B5EF4-FFF2-40B4-BE49-F238E27FC236}">
                <a16:creationId xmlns:a16="http://schemas.microsoft.com/office/drawing/2014/main" id="{15B099A5-07B6-C833-8AA0-DB538A8A4E11}"/>
              </a:ext>
            </a:extLst>
          </p:cNvPr>
          <p:cNvSpPr txBox="1"/>
          <p:nvPr/>
        </p:nvSpPr>
        <p:spPr>
          <a:xfrm>
            <a:off x="929013" y="1795398"/>
            <a:ext cx="3308958" cy="2862322"/>
          </a:xfrm>
          <a:prstGeom prst="rect">
            <a:avLst/>
          </a:prstGeom>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Leva Superiore, 19</a:t>
            </a:r>
          </a:p>
          <a:p>
            <a:endParaRPr lang="en-US">
              <a:ea typeface="Calibri"/>
              <a:cs typeface="Calibri"/>
            </a:endParaRPr>
          </a:p>
          <a:p>
            <a:r>
              <a:rPr lang="en-US">
                <a:ea typeface="Calibri"/>
                <a:cs typeface="Calibri"/>
              </a:rPr>
              <a:t>Leva </a:t>
            </a:r>
            <a:r>
              <a:rPr lang="en-US" err="1">
                <a:ea typeface="Calibri"/>
                <a:cs typeface="Calibri"/>
              </a:rPr>
              <a:t>Inferiore</a:t>
            </a:r>
            <a:r>
              <a:rPr lang="en-US">
                <a:ea typeface="Calibri"/>
                <a:cs typeface="Calibri"/>
              </a:rPr>
              <a:t>, 20</a:t>
            </a:r>
          </a:p>
          <a:p>
            <a:endParaRPr lang="en-US">
              <a:ea typeface="Calibri"/>
              <a:cs typeface="Calibri"/>
            </a:endParaRPr>
          </a:p>
          <a:p>
            <a:r>
              <a:rPr lang="en-US" err="1">
                <a:ea typeface="Calibri"/>
                <a:cs typeface="Calibri"/>
              </a:rPr>
              <a:t>Cinghia</a:t>
            </a:r>
            <a:r>
              <a:rPr lang="en-US">
                <a:ea typeface="Calibri"/>
                <a:cs typeface="Calibri"/>
              </a:rPr>
              <a:t> Gommata, 21</a:t>
            </a:r>
          </a:p>
          <a:p>
            <a:endParaRPr lang="en-US">
              <a:ea typeface="Calibri"/>
              <a:cs typeface="Calibri"/>
            </a:endParaRPr>
          </a:p>
          <a:p>
            <a:r>
              <a:rPr lang="en-US">
                <a:ea typeface="Calibri"/>
                <a:cs typeface="Calibri"/>
              </a:rPr>
              <a:t>Perno Centrale, 22</a:t>
            </a:r>
          </a:p>
          <a:p>
            <a:endParaRPr lang="en-US">
              <a:ea typeface="Calibri"/>
              <a:cs typeface="Calibri"/>
            </a:endParaRPr>
          </a:p>
          <a:p>
            <a:r>
              <a:rPr lang="en-US">
                <a:ea typeface="Calibri"/>
                <a:cs typeface="Calibri"/>
              </a:rPr>
              <a:t>Corpo Centrale, 23</a:t>
            </a:r>
          </a:p>
          <a:p>
            <a:endParaRPr lang="en-US">
              <a:ea typeface="Calibri"/>
              <a:cs typeface="Calibri"/>
            </a:endParaRPr>
          </a:p>
        </p:txBody>
      </p:sp>
    </p:spTree>
    <p:extLst>
      <p:ext uri="{BB962C8B-B14F-4D97-AF65-F5344CB8AC3E}">
        <p14:creationId xmlns:p14="http://schemas.microsoft.com/office/powerpoint/2010/main" val="4163583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35227-72D2-FFCD-8EB8-360B61DCC835}"/>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AD4CEF7D-66A1-F31E-192E-D62891D1663E}"/>
              </a:ext>
            </a:extLst>
          </p:cNvPr>
          <p:cNvSpPr txBox="1"/>
          <p:nvPr/>
        </p:nvSpPr>
        <p:spPr>
          <a:xfrm>
            <a:off x="335360" y="436022"/>
            <a:ext cx="7056784" cy="646331"/>
          </a:xfrm>
          <a:prstGeom prst="rect">
            <a:avLst/>
          </a:prstGeom>
          <a:noFill/>
        </p:spPr>
        <p:txBody>
          <a:bodyPr wrap="square">
            <a:spAutoFit/>
          </a:bodyPr>
          <a:lstStyle/>
          <a:p>
            <a:r>
              <a:rPr lang="it-IT" sz="3600" b="1">
                <a:solidFill>
                  <a:srgbClr val="BD2B0B"/>
                </a:solidFill>
              </a:rPr>
              <a:t>VIDEO SIMULAZIONE</a:t>
            </a:r>
            <a:endParaRPr lang="it-IT" sz="3600">
              <a:solidFill>
                <a:srgbClr val="BD2B0B"/>
              </a:solidFill>
            </a:endParaRPr>
          </a:p>
        </p:txBody>
      </p:sp>
      <p:pic>
        <p:nvPicPr>
          <p:cNvPr id="4" name="AnimazioneFreno">
            <a:hlinkClick r:id="" action="ppaction://media"/>
            <a:extLst>
              <a:ext uri="{FF2B5EF4-FFF2-40B4-BE49-F238E27FC236}">
                <a16:creationId xmlns:a16="http://schemas.microsoft.com/office/drawing/2014/main" id="{F3E46A4C-4F57-D970-7A6A-3B330CD33DC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928203" y="1088366"/>
            <a:ext cx="8832132" cy="4997570"/>
          </a:xfrm>
          <a:prstGeom prst="rect">
            <a:avLst/>
          </a:prstGeom>
        </p:spPr>
      </p:pic>
    </p:spTree>
    <p:extLst>
      <p:ext uri="{BB962C8B-B14F-4D97-AF65-F5344CB8AC3E}">
        <p14:creationId xmlns:p14="http://schemas.microsoft.com/office/powerpoint/2010/main" val="3136349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719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98378-B648-53D6-BB08-123B16AE4911}"/>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06D9B9AA-E9D5-868E-9156-04D0D8092C8A}"/>
              </a:ext>
            </a:extLst>
          </p:cNvPr>
          <p:cNvSpPr txBox="1"/>
          <p:nvPr/>
        </p:nvSpPr>
        <p:spPr>
          <a:xfrm>
            <a:off x="335360" y="436022"/>
            <a:ext cx="10225136" cy="646331"/>
          </a:xfrm>
          <a:prstGeom prst="rect">
            <a:avLst/>
          </a:prstGeom>
          <a:noFill/>
        </p:spPr>
        <p:txBody>
          <a:bodyPr wrap="square">
            <a:spAutoFit/>
          </a:bodyPr>
          <a:lstStyle/>
          <a:p>
            <a:r>
              <a:rPr lang="it-IT" sz="3600" b="1">
                <a:solidFill>
                  <a:srgbClr val="BD2B0B"/>
                </a:solidFill>
              </a:rPr>
              <a:t>TOLLERANZE E ACCOPPIAMENTI ALBERO-FORO</a:t>
            </a:r>
          </a:p>
        </p:txBody>
      </p:sp>
      <p:sp>
        <p:nvSpPr>
          <p:cNvPr id="3" name="TextBox 2">
            <a:extLst>
              <a:ext uri="{FF2B5EF4-FFF2-40B4-BE49-F238E27FC236}">
                <a16:creationId xmlns:a16="http://schemas.microsoft.com/office/drawing/2014/main" id="{F34CB67B-5D59-3F76-E3D4-BEF43BE44398}"/>
              </a:ext>
            </a:extLst>
          </p:cNvPr>
          <p:cNvSpPr txBox="1"/>
          <p:nvPr/>
        </p:nvSpPr>
        <p:spPr>
          <a:xfrm>
            <a:off x="835068" y="1294356"/>
            <a:ext cx="9582410" cy="32932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rial"/>
                <a:ea typeface="Calibri"/>
                <a:cs typeface="Calibri"/>
              </a:rPr>
              <a:t>Sono </a:t>
            </a:r>
            <a:r>
              <a:rPr lang="en-US" sz="1600" err="1">
                <a:latin typeface="Arial"/>
                <a:ea typeface="Calibri"/>
                <a:cs typeface="Calibri"/>
              </a:rPr>
              <a:t>stati</a:t>
            </a:r>
            <a:r>
              <a:rPr lang="en-US" sz="1600">
                <a:latin typeface="Arial"/>
                <a:ea typeface="Calibri"/>
                <a:cs typeface="Calibri"/>
              </a:rPr>
              <a:t> </a:t>
            </a:r>
            <a:r>
              <a:rPr lang="en-US" sz="1600" err="1">
                <a:latin typeface="Arial"/>
                <a:ea typeface="Calibri"/>
                <a:cs typeface="Calibri"/>
              </a:rPr>
              <a:t>realizzati</a:t>
            </a:r>
            <a:r>
              <a:rPr lang="en-US" sz="1600">
                <a:latin typeface="Arial"/>
                <a:ea typeface="Calibri"/>
                <a:cs typeface="Calibri"/>
              </a:rPr>
              <a:t> I </a:t>
            </a:r>
            <a:r>
              <a:rPr lang="en-US" sz="1600" err="1">
                <a:latin typeface="Arial"/>
                <a:ea typeface="Calibri"/>
                <a:cs typeface="Calibri"/>
              </a:rPr>
              <a:t>seguenti</a:t>
            </a:r>
            <a:r>
              <a:rPr lang="en-US" sz="1600">
                <a:latin typeface="Arial"/>
                <a:ea typeface="Calibri"/>
                <a:cs typeface="Calibri"/>
              </a:rPr>
              <a:t> </a:t>
            </a:r>
            <a:r>
              <a:rPr lang="en-US" sz="1600" err="1">
                <a:latin typeface="Arial"/>
                <a:ea typeface="Calibri"/>
                <a:cs typeface="Calibri"/>
              </a:rPr>
              <a:t>accoppiamenti</a:t>
            </a:r>
            <a:r>
              <a:rPr lang="en-US" sz="1600">
                <a:latin typeface="Arial"/>
                <a:ea typeface="Calibri"/>
                <a:cs typeface="Calibri"/>
              </a:rPr>
              <a:t> </a:t>
            </a:r>
            <a:r>
              <a:rPr lang="en-US" sz="1600" err="1">
                <a:latin typeface="Arial"/>
                <a:ea typeface="Calibri"/>
                <a:cs typeface="Calibri"/>
              </a:rPr>
              <a:t>albero-foro</a:t>
            </a:r>
            <a:r>
              <a:rPr lang="en-US" sz="1600">
                <a:latin typeface="Arial"/>
                <a:ea typeface="Calibri"/>
                <a:cs typeface="Calibri"/>
              </a:rPr>
              <a:t>:</a:t>
            </a:r>
          </a:p>
          <a:p>
            <a:endParaRPr lang="en-US" sz="1600">
              <a:latin typeface="Arial"/>
              <a:ea typeface="Calibri"/>
              <a:cs typeface="Calibri"/>
            </a:endParaRPr>
          </a:p>
          <a:p>
            <a:pPr marL="742950" lvl="1" indent="-285750">
              <a:buFont typeface="Arial"/>
              <a:buChar char="•"/>
            </a:pPr>
            <a:r>
              <a:rPr lang="en-US" sz="1600" b="1">
                <a:latin typeface="Arial"/>
                <a:ea typeface="Calibri"/>
                <a:cs typeface="Calibri"/>
              </a:rPr>
              <a:t>Perno Centrale, </a:t>
            </a:r>
            <a:r>
              <a:rPr lang="en-US" sz="1600" err="1">
                <a:latin typeface="Arial"/>
                <a:ea typeface="Calibri"/>
                <a:cs typeface="Calibri"/>
              </a:rPr>
              <a:t>dato</a:t>
            </a:r>
            <a:r>
              <a:rPr lang="en-US" sz="1600">
                <a:latin typeface="Arial"/>
                <a:ea typeface="Calibri"/>
                <a:cs typeface="Calibri"/>
              </a:rPr>
              <a:t> </a:t>
            </a:r>
            <a:r>
              <a:rPr lang="en-US" sz="1600" err="1">
                <a:latin typeface="Arial"/>
                <a:ea typeface="Calibri"/>
                <a:cs typeface="Calibri"/>
              </a:rPr>
              <a:t>che</a:t>
            </a:r>
            <a:r>
              <a:rPr lang="en-US" sz="1600">
                <a:latin typeface="Arial"/>
                <a:ea typeface="Calibri"/>
                <a:cs typeface="Calibri"/>
              </a:rPr>
              <a:t> le </a:t>
            </a:r>
            <a:r>
              <a:rPr lang="en-US" sz="1600" err="1">
                <a:latin typeface="Arial"/>
                <a:ea typeface="Calibri"/>
                <a:cs typeface="Calibri"/>
              </a:rPr>
              <a:t>leve</a:t>
            </a:r>
            <a:r>
              <a:rPr lang="en-US" sz="1600">
                <a:latin typeface="Arial"/>
                <a:ea typeface="Calibri"/>
                <a:cs typeface="Calibri"/>
              </a:rPr>
              <a:t> </a:t>
            </a:r>
            <a:r>
              <a:rPr lang="en-US" sz="1600" err="1">
                <a:latin typeface="Arial"/>
                <a:ea typeface="Calibri"/>
                <a:cs typeface="Calibri"/>
              </a:rPr>
              <a:t>devono</a:t>
            </a:r>
            <a:r>
              <a:rPr lang="en-US" sz="1600">
                <a:latin typeface="Arial"/>
                <a:ea typeface="Calibri"/>
                <a:cs typeface="Calibri"/>
              </a:rPr>
              <a:t> </a:t>
            </a:r>
            <a:r>
              <a:rPr lang="en-US" sz="1600" err="1">
                <a:latin typeface="Arial"/>
                <a:ea typeface="Calibri"/>
                <a:cs typeface="Calibri"/>
              </a:rPr>
              <a:t>ruotare</a:t>
            </a:r>
            <a:r>
              <a:rPr lang="en-US" sz="1600">
                <a:latin typeface="Arial"/>
                <a:ea typeface="Calibri"/>
                <a:cs typeface="Calibri"/>
              </a:rPr>
              <a:t> </a:t>
            </a:r>
            <a:r>
              <a:rPr lang="en-US" sz="1600" err="1">
                <a:latin typeface="Arial"/>
                <a:ea typeface="Calibri"/>
                <a:cs typeface="Calibri"/>
              </a:rPr>
              <a:t>attorno</a:t>
            </a:r>
            <a:r>
              <a:rPr lang="en-US" sz="1600">
                <a:latin typeface="Arial"/>
                <a:ea typeface="Calibri"/>
                <a:cs typeface="Calibri"/>
              </a:rPr>
              <a:t> </a:t>
            </a:r>
            <a:r>
              <a:rPr lang="en-US" sz="1600" err="1">
                <a:latin typeface="Arial"/>
                <a:ea typeface="Calibri"/>
                <a:cs typeface="Calibri"/>
              </a:rPr>
              <a:t>all'asse</a:t>
            </a:r>
            <a:r>
              <a:rPr lang="en-US" sz="1600">
                <a:latin typeface="Arial"/>
                <a:ea typeface="Calibri"/>
                <a:cs typeface="Calibri"/>
              </a:rPr>
              <a:t> del </a:t>
            </a:r>
            <a:r>
              <a:rPr lang="en-US" sz="1600" err="1">
                <a:latin typeface="Arial"/>
                <a:ea typeface="Calibri"/>
                <a:cs typeface="Calibri"/>
              </a:rPr>
              <a:t>perno</a:t>
            </a:r>
            <a:r>
              <a:rPr lang="en-US" sz="1600">
                <a:latin typeface="Arial"/>
                <a:ea typeface="Calibri"/>
                <a:cs typeface="Calibri"/>
              </a:rPr>
              <a:t> ci </a:t>
            </a:r>
            <a:r>
              <a:rPr lang="en-US" sz="1600" err="1">
                <a:latin typeface="Arial"/>
                <a:ea typeface="Calibri"/>
                <a:cs typeface="Calibri"/>
              </a:rPr>
              <a:t>deve</a:t>
            </a:r>
            <a:r>
              <a:rPr lang="en-US" sz="1600">
                <a:latin typeface="Arial"/>
                <a:ea typeface="Calibri"/>
                <a:cs typeface="Calibri"/>
              </a:rPr>
              <a:t> </a:t>
            </a:r>
            <a:r>
              <a:rPr lang="en-US" sz="1600" err="1">
                <a:latin typeface="Arial"/>
                <a:ea typeface="Calibri"/>
                <a:cs typeface="Calibri"/>
              </a:rPr>
              <a:t>essere</a:t>
            </a:r>
            <a:r>
              <a:rPr lang="en-US" sz="1600">
                <a:latin typeface="Arial"/>
                <a:ea typeface="Calibri"/>
                <a:cs typeface="Calibri"/>
              </a:rPr>
              <a:t> un </a:t>
            </a:r>
            <a:r>
              <a:rPr lang="en-US" sz="1600" err="1">
                <a:latin typeface="Arial"/>
                <a:ea typeface="Calibri"/>
                <a:cs typeface="Calibri"/>
              </a:rPr>
              <a:t>minimo</a:t>
            </a:r>
            <a:r>
              <a:rPr lang="en-US" sz="1600">
                <a:latin typeface="Arial"/>
                <a:ea typeface="Calibri"/>
                <a:cs typeface="Calibri"/>
              </a:rPr>
              <a:t> di </a:t>
            </a:r>
            <a:r>
              <a:rPr lang="en-US" sz="1600" err="1">
                <a:latin typeface="Arial"/>
                <a:ea typeface="Calibri"/>
                <a:cs typeface="Calibri"/>
              </a:rPr>
              <a:t>gioco</a:t>
            </a:r>
            <a:r>
              <a:rPr lang="en-US" sz="1600">
                <a:latin typeface="Arial"/>
                <a:ea typeface="Calibri"/>
                <a:cs typeface="Calibri"/>
              </a:rPr>
              <a:t>, </a:t>
            </a:r>
            <a:r>
              <a:rPr lang="en-US" sz="1600" err="1">
                <a:latin typeface="Arial"/>
                <a:ea typeface="Calibri"/>
                <a:cs typeface="Calibri"/>
              </a:rPr>
              <a:t>quindi</a:t>
            </a:r>
            <a:r>
              <a:rPr lang="en-US" sz="1600">
                <a:latin typeface="Arial"/>
                <a:ea typeface="Calibri"/>
                <a:cs typeface="Calibri"/>
              </a:rPr>
              <a:t> </a:t>
            </a:r>
            <a:r>
              <a:rPr lang="en-US" sz="1600" err="1">
                <a:latin typeface="Arial"/>
                <a:ea typeface="Calibri"/>
                <a:cs typeface="Calibri"/>
              </a:rPr>
              <a:t>si</a:t>
            </a:r>
            <a:r>
              <a:rPr lang="en-US" sz="1600">
                <a:latin typeface="Arial"/>
                <a:ea typeface="Calibri"/>
                <a:cs typeface="Calibri"/>
              </a:rPr>
              <a:t> è </a:t>
            </a:r>
            <a:r>
              <a:rPr lang="en-US" sz="1600" err="1">
                <a:latin typeface="Arial"/>
                <a:ea typeface="Calibri"/>
                <a:cs typeface="Calibri"/>
              </a:rPr>
              <a:t>optato</a:t>
            </a:r>
            <a:r>
              <a:rPr lang="en-US" sz="1600">
                <a:latin typeface="Arial"/>
                <a:ea typeface="Calibri"/>
                <a:cs typeface="Calibri"/>
              </a:rPr>
              <a:t> per un </a:t>
            </a:r>
            <a:r>
              <a:rPr lang="en-US" sz="1600" err="1">
                <a:latin typeface="Arial"/>
                <a:ea typeface="Calibri"/>
                <a:cs typeface="Calibri"/>
              </a:rPr>
              <a:t>accoppiamento</a:t>
            </a:r>
            <a:r>
              <a:rPr lang="en-US" sz="1600">
                <a:latin typeface="Arial"/>
                <a:ea typeface="Calibri"/>
                <a:cs typeface="Calibri"/>
              </a:rPr>
              <a:t> per </a:t>
            </a:r>
            <a:r>
              <a:rPr lang="en-US" sz="1600" err="1">
                <a:latin typeface="Arial"/>
                <a:ea typeface="Calibri"/>
                <a:cs typeface="Calibri"/>
              </a:rPr>
              <a:t>gioco</a:t>
            </a:r>
            <a:r>
              <a:rPr lang="en-US" sz="1600">
                <a:latin typeface="Arial"/>
                <a:ea typeface="Calibri"/>
                <a:cs typeface="Calibri"/>
              </a:rPr>
              <a:t> H7/h6, in cui la </a:t>
            </a:r>
            <a:r>
              <a:rPr lang="en-US" sz="1600" err="1">
                <a:latin typeface="Arial"/>
                <a:ea typeface="Calibri"/>
                <a:cs typeface="Calibri"/>
              </a:rPr>
              <a:t>dimensione</a:t>
            </a:r>
            <a:r>
              <a:rPr lang="en-US" sz="1600">
                <a:latin typeface="Arial"/>
                <a:ea typeface="Calibri"/>
                <a:cs typeface="Calibri"/>
              </a:rPr>
              <a:t> del </a:t>
            </a:r>
            <a:r>
              <a:rPr lang="en-US" sz="1600" err="1">
                <a:latin typeface="Arial"/>
                <a:ea typeface="Calibri"/>
                <a:cs typeface="Calibri"/>
              </a:rPr>
              <a:t>foro</a:t>
            </a:r>
            <a:r>
              <a:rPr lang="en-US" sz="1600">
                <a:latin typeface="Arial"/>
                <a:ea typeface="Calibri"/>
                <a:cs typeface="Calibri"/>
              </a:rPr>
              <a:t> </a:t>
            </a:r>
            <a:r>
              <a:rPr lang="en-US" sz="1600" err="1">
                <a:latin typeface="Arial"/>
                <a:ea typeface="Calibri"/>
                <a:cs typeface="Calibri"/>
              </a:rPr>
              <a:t>sarà</a:t>
            </a:r>
            <a:r>
              <a:rPr lang="en-US" sz="1600">
                <a:latin typeface="Arial"/>
                <a:ea typeface="Calibri"/>
                <a:cs typeface="Calibri"/>
              </a:rPr>
              <a:t> 0÷18 </a:t>
            </a:r>
            <a:r>
              <a:rPr lang="en-US" sz="1600">
                <a:latin typeface="Arial"/>
                <a:ea typeface="+mn-lt"/>
                <a:cs typeface="+mn-lt"/>
              </a:rPr>
              <a:t>µ</a:t>
            </a:r>
            <a:r>
              <a:rPr lang="en-US" sz="1600">
                <a:latin typeface="Arial"/>
                <a:ea typeface="Calibri"/>
                <a:cs typeface="Calibri"/>
              </a:rPr>
              <a:t>m, </a:t>
            </a:r>
            <a:r>
              <a:rPr lang="en-US" sz="1600" err="1">
                <a:latin typeface="Arial"/>
                <a:ea typeface="Calibri"/>
                <a:cs typeface="Calibri"/>
              </a:rPr>
              <a:t>mentre</a:t>
            </a:r>
            <a:r>
              <a:rPr lang="en-US" sz="1600">
                <a:latin typeface="Arial"/>
                <a:ea typeface="Calibri"/>
                <a:cs typeface="Calibri"/>
              </a:rPr>
              <a:t> </a:t>
            </a:r>
            <a:r>
              <a:rPr lang="en-US" sz="1600" err="1">
                <a:latin typeface="Arial"/>
                <a:ea typeface="Calibri"/>
                <a:cs typeface="Calibri"/>
              </a:rPr>
              <a:t>quella</a:t>
            </a:r>
            <a:r>
              <a:rPr lang="en-US" sz="1600">
                <a:latin typeface="Arial"/>
                <a:ea typeface="Calibri"/>
                <a:cs typeface="Calibri"/>
              </a:rPr>
              <a:t> </a:t>
            </a:r>
            <a:r>
              <a:rPr lang="en-US" sz="1600" err="1">
                <a:latin typeface="Arial"/>
                <a:ea typeface="Calibri"/>
                <a:cs typeface="Calibri"/>
              </a:rPr>
              <a:t>dell'albero</a:t>
            </a:r>
            <a:r>
              <a:rPr lang="en-US" sz="1600">
                <a:latin typeface="Arial"/>
                <a:ea typeface="Calibri"/>
                <a:cs typeface="Calibri"/>
              </a:rPr>
              <a:t> </a:t>
            </a:r>
            <a:r>
              <a:rPr lang="en-US" sz="1600" err="1">
                <a:latin typeface="Arial"/>
                <a:ea typeface="Calibri"/>
                <a:cs typeface="Calibri"/>
              </a:rPr>
              <a:t>sarà</a:t>
            </a:r>
            <a:r>
              <a:rPr lang="en-US" sz="1600">
                <a:latin typeface="Arial"/>
                <a:ea typeface="Calibri"/>
                <a:cs typeface="Calibri"/>
              </a:rPr>
              <a:t> (-6 ÷ -17) </a:t>
            </a:r>
            <a:r>
              <a:rPr lang="en-US" sz="1600">
                <a:latin typeface="Arial"/>
                <a:ea typeface="+mn-lt"/>
                <a:cs typeface="+mn-lt"/>
              </a:rPr>
              <a:t>µ</a:t>
            </a:r>
            <a:r>
              <a:rPr lang="en-US" sz="1600">
                <a:latin typeface="Arial"/>
                <a:ea typeface="Calibri"/>
                <a:cs typeface="Calibri"/>
              </a:rPr>
              <a:t>m</a:t>
            </a:r>
            <a:r>
              <a:rPr lang="en-US" sz="1600">
                <a:latin typeface="Arial"/>
                <a:ea typeface="Calibri"/>
                <a:cs typeface="Arial"/>
              </a:rPr>
              <a:t>, con Φ12</a:t>
            </a:r>
            <a:r>
              <a:rPr lang="en-US" sz="1600">
                <a:latin typeface="Arial"/>
                <a:ea typeface="Calibri"/>
                <a:cs typeface="Calibri"/>
              </a:rPr>
              <a:t>;</a:t>
            </a:r>
          </a:p>
          <a:p>
            <a:pPr lvl="1"/>
            <a:endParaRPr lang="en-US" sz="1600">
              <a:latin typeface="Arial"/>
              <a:ea typeface="Calibri"/>
              <a:cs typeface="Calibri"/>
            </a:endParaRPr>
          </a:p>
          <a:p>
            <a:pPr marL="742950" lvl="1" indent="-285750">
              <a:buFont typeface="Arial,Sans-Serif"/>
              <a:buChar char="•"/>
            </a:pPr>
            <a:r>
              <a:rPr lang="en-US" sz="1600" b="1">
                <a:latin typeface="Arial"/>
                <a:ea typeface="Calibri"/>
                <a:cs typeface="Calibri"/>
              </a:rPr>
              <a:t>Perno </a:t>
            </a:r>
            <a:r>
              <a:rPr lang="en-US" sz="1600" b="1" err="1">
                <a:latin typeface="Arial"/>
                <a:ea typeface="Calibri"/>
                <a:cs typeface="Calibri"/>
              </a:rPr>
              <a:t>Laterale</a:t>
            </a:r>
            <a:r>
              <a:rPr lang="en-US" sz="1600" b="1">
                <a:latin typeface="Arial"/>
                <a:ea typeface="Calibri"/>
                <a:cs typeface="Calibri"/>
              </a:rPr>
              <a:t>, </a:t>
            </a:r>
            <a:r>
              <a:rPr lang="en-US" sz="1600" err="1">
                <a:latin typeface="Arial"/>
                <a:ea typeface="Calibri"/>
                <a:cs typeface="Arial"/>
              </a:rPr>
              <a:t>dato</a:t>
            </a:r>
            <a:r>
              <a:rPr lang="en-US" sz="1600">
                <a:latin typeface="Arial"/>
                <a:ea typeface="Calibri"/>
                <a:cs typeface="Arial"/>
              </a:rPr>
              <a:t> </a:t>
            </a:r>
            <a:r>
              <a:rPr lang="en-US" sz="1600" err="1">
                <a:latin typeface="Arial"/>
                <a:ea typeface="Calibri"/>
                <a:cs typeface="Arial"/>
              </a:rPr>
              <a:t>che</a:t>
            </a:r>
            <a:r>
              <a:rPr lang="en-US" sz="1600">
                <a:latin typeface="Arial"/>
                <a:ea typeface="Calibri"/>
                <a:cs typeface="Arial"/>
              </a:rPr>
              <a:t> </a:t>
            </a:r>
            <a:r>
              <a:rPr lang="en-US" sz="1600" err="1">
                <a:latin typeface="Arial"/>
                <a:ea typeface="Calibri"/>
                <a:cs typeface="Arial"/>
              </a:rPr>
              <a:t>i</a:t>
            </a:r>
            <a:r>
              <a:rPr lang="en-US" sz="1600">
                <a:latin typeface="Arial"/>
                <a:ea typeface="Calibri"/>
                <a:cs typeface="Arial"/>
              </a:rPr>
              <a:t> </a:t>
            </a:r>
            <a:r>
              <a:rPr lang="en-US" sz="1600" err="1">
                <a:latin typeface="Arial"/>
                <a:ea typeface="Calibri"/>
                <a:cs typeface="Arial"/>
              </a:rPr>
              <a:t>supporti</a:t>
            </a:r>
            <a:r>
              <a:rPr lang="en-US" sz="1600">
                <a:latin typeface="Arial"/>
                <a:ea typeface="Calibri"/>
                <a:cs typeface="Arial"/>
              </a:rPr>
              <a:t> </a:t>
            </a:r>
            <a:r>
              <a:rPr lang="en-US" sz="1600" err="1">
                <a:latin typeface="Arial"/>
                <a:ea typeface="Calibri"/>
                <a:cs typeface="Arial"/>
              </a:rPr>
              <a:t>sono</a:t>
            </a:r>
            <a:r>
              <a:rPr lang="en-US" sz="1600">
                <a:latin typeface="Arial"/>
                <a:ea typeface="Calibri"/>
                <a:cs typeface="Arial"/>
              </a:rPr>
              <a:t> </a:t>
            </a:r>
            <a:r>
              <a:rPr lang="en-US" sz="1600" err="1">
                <a:latin typeface="Arial"/>
                <a:ea typeface="Calibri"/>
                <a:cs typeface="Arial"/>
              </a:rPr>
              <a:t>fissi</a:t>
            </a:r>
            <a:r>
              <a:rPr lang="en-US" sz="1600">
                <a:latin typeface="Arial"/>
                <a:ea typeface="Calibri"/>
                <a:cs typeface="Arial"/>
              </a:rPr>
              <a:t> non ci </a:t>
            </a:r>
            <a:r>
              <a:rPr lang="en-US" sz="1600" err="1">
                <a:latin typeface="Arial"/>
                <a:ea typeface="Calibri"/>
                <a:cs typeface="Arial"/>
              </a:rPr>
              <a:t>dovrà</a:t>
            </a:r>
            <a:r>
              <a:rPr lang="en-US" sz="1600">
                <a:latin typeface="Arial"/>
                <a:ea typeface="Calibri"/>
                <a:cs typeface="Arial"/>
              </a:rPr>
              <a:t> </a:t>
            </a:r>
            <a:r>
              <a:rPr lang="en-US" sz="1600" err="1">
                <a:latin typeface="Arial"/>
                <a:ea typeface="Calibri"/>
                <a:cs typeface="Arial"/>
              </a:rPr>
              <a:t>essere</a:t>
            </a:r>
            <a:r>
              <a:rPr lang="en-US" sz="1600">
                <a:latin typeface="Arial"/>
                <a:ea typeface="Calibri"/>
                <a:cs typeface="Arial"/>
              </a:rPr>
              <a:t> </a:t>
            </a:r>
            <a:r>
              <a:rPr lang="en-US" sz="1600" err="1">
                <a:latin typeface="Arial"/>
                <a:ea typeface="Calibri"/>
                <a:cs typeface="Arial"/>
              </a:rPr>
              <a:t>alcun</a:t>
            </a:r>
            <a:r>
              <a:rPr lang="en-US" sz="1600">
                <a:latin typeface="Arial"/>
                <a:ea typeface="Calibri"/>
                <a:cs typeface="Arial"/>
              </a:rPr>
              <a:t> </a:t>
            </a:r>
            <a:r>
              <a:rPr lang="en-US" sz="1600" err="1">
                <a:latin typeface="Arial"/>
                <a:ea typeface="Calibri"/>
                <a:cs typeface="Arial"/>
              </a:rPr>
              <a:t>tipo</a:t>
            </a:r>
            <a:r>
              <a:rPr lang="en-US" sz="1600">
                <a:latin typeface="Arial"/>
                <a:ea typeface="Calibri"/>
                <a:cs typeface="Arial"/>
              </a:rPr>
              <a:t> di </a:t>
            </a:r>
            <a:r>
              <a:rPr lang="en-US" sz="1600" err="1">
                <a:latin typeface="Arial"/>
                <a:ea typeface="Calibri"/>
                <a:cs typeface="Arial"/>
              </a:rPr>
              <a:t>movimento</a:t>
            </a:r>
            <a:r>
              <a:rPr lang="en-US" sz="1600">
                <a:latin typeface="Arial"/>
                <a:ea typeface="Calibri"/>
                <a:cs typeface="Arial"/>
              </a:rPr>
              <a:t>, </a:t>
            </a:r>
            <a:r>
              <a:rPr lang="en-US" sz="1600" err="1">
                <a:latin typeface="Arial"/>
                <a:ea typeface="Calibri"/>
                <a:cs typeface="Arial"/>
              </a:rPr>
              <a:t>quindi</a:t>
            </a:r>
            <a:r>
              <a:rPr lang="en-US" sz="1600">
                <a:latin typeface="Arial"/>
                <a:ea typeface="Calibri"/>
                <a:cs typeface="Arial"/>
              </a:rPr>
              <a:t> </a:t>
            </a:r>
            <a:r>
              <a:rPr lang="en-US" sz="1600" err="1">
                <a:latin typeface="Arial"/>
                <a:ea typeface="Calibri"/>
                <a:cs typeface="Arial"/>
              </a:rPr>
              <a:t>si</a:t>
            </a:r>
            <a:r>
              <a:rPr lang="en-US" sz="1600">
                <a:latin typeface="Arial"/>
                <a:ea typeface="Calibri"/>
                <a:cs typeface="Arial"/>
              </a:rPr>
              <a:t> è </a:t>
            </a:r>
            <a:r>
              <a:rPr lang="en-US" sz="1600" err="1">
                <a:latin typeface="Arial"/>
                <a:ea typeface="Calibri"/>
                <a:cs typeface="Arial"/>
              </a:rPr>
              <a:t>optato</a:t>
            </a:r>
            <a:r>
              <a:rPr lang="en-US" sz="1600">
                <a:latin typeface="Arial"/>
                <a:ea typeface="Calibri"/>
                <a:cs typeface="Arial"/>
              </a:rPr>
              <a:t> per un </a:t>
            </a:r>
            <a:r>
              <a:rPr lang="en-US" sz="1600" err="1">
                <a:latin typeface="Arial"/>
                <a:ea typeface="Calibri"/>
                <a:cs typeface="Arial"/>
              </a:rPr>
              <a:t>accoppiamento</a:t>
            </a:r>
            <a:r>
              <a:rPr lang="en-US" sz="1600">
                <a:latin typeface="Arial"/>
                <a:ea typeface="Calibri"/>
                <a:cs typeface="Arial"/>
              </a:rPr>
              <a:t> per </a:t>
            </a:r>
            <a:r>
              <a:rPr lang="en-US" sz="1600" err="1">
                <a:latin typeface="Arial"/>
                <a:ea typeface="Calibri"/>
                <a:cs typeface="Arial"/>
              </a:rPr>
              <a:t>interferenza</a:t>
            </a:r>
            <a:r>
              <a:rPr lang="en-US" sz="1600">
                <a:latin typeface="Arial"/>
                <a:ea typeface="Calibri"/>
                <a:cs typeface="Arial"/>
              </a:rPr>
              <a:t> H7/n6, in cui la </a:t>
            </a:r>
            <a:r>
              <a:rPr lang="en-US" sz="1600" err="1">
                <a:latin typeface="Arial"/>
                <a:ea typeface="Calibri"/>
                <a:cs typeface="Arial"/>
              </a:rPr>
              <a:t>dimensione</a:t>
            </a:r>
            <a:r>
              <a:rPr lang="en-US" sz="1600">
                <a:latin typeface="Arial"/>
                <a:ea typeface="Calibri"/>
                <a:cs typeface="Arial"/>
              </a:rPr>
              <a:t> del </a:t>
            </a:r>
            <a:r>
              <a:rPr lang="en-US" sz="1600" err="1">
                <a:latin typeface="Arial"/>
                <a:ea typeface="Calibri"/>
                <a:cs typeface="Arial"/>
              </a:rPr>
              <a:t>foro</a:t>
            </a:r>
            <a:r>
              <a:rPr lang="en-US" sz="1600">
                <a:latin typeface="Arial"/>
                <a:ea typeface="Calibri"/>
                <a:cs typeface="Arial"/>
              </a:rPr>
              <a:t> </a:t>
            </a:r>
            <a:r>
              <a:rPr lang="en-US" sz="1600" err="1">
                <a:latin typeface="Arial"/>
                <a:ea typeface="Calibri"/>
                <a:cs typeface="Arial"/>
              </a:rPr>
              <a:t>sarà</a:t>
            </a:r>
            <a:r>
              <a:rPr lang="en-US" sz="1600">
                <a:latin typeface="Arial"/>
                <a:ea typeface="Calibri"/>
                <a:cs typeface="Arial"/>
              </a:rPr>
              <a:t> 0÷18 µm, </a:t>
            </a:r>
            <a:r>
              <a:rPr lang="en-US" sz="1600" err="1">
                <a:latin typeface="Arial"/>
                <a:ea typeface="Calibri"/>
                <a:cs typeface="Arial"/>
              </a:rPr>
              <a:t>mentre</a:t>
            </a:r>
            <a:r>
              <a:rPr lang="en-US" sz="1600">
                <a:latin typeface="Arial"/>
                <a:ea typeface="Calibri"/>
                <a:cs typeface="Arial"/>
              </a:rPr>
              <a:t> </a:t>
            </a:r>
            <a:r>
              <a:rPr lang="en-US" sz="1600" err="1">
                <a:latin typeface="Arial"/>
                <a:ea typeface="Calibri"/>
                <a:cs typeface="Arial"/>
              </a:rPr>
              <a:t>quella</a:t>
            </a:r>
            <a:r>
              <a:rPr lang="en-US" sz="1600">
                <a:latin typeface="Arial"/>
                <a:ea typeface="Calibri"/>
                <a:cs typeface="Arial"/>
              </a:rPr>
              <a:t> </a:t>
            </a:r>
            <a:r>
              <a:rPr lang="en-US" sz="1600" err="1">
                <a:latin typeface="Arial"/>
                <a:ea typeface="Calibri"/>
                <a:cs typeface="Arial"/>
              </a:rPr>
              <a:t>dell'albero</a:t>
            </a:r>
            <a:r>
              <a:rPr lang="en-US" sz="1600">
                <a:latin typeface="Arial"/>
                <a:ea typeface="Calibri"/>
                <a:cs typeface="Arial"/>
              </a:rPr>
              <a:t> </a:t>
            </a:r>
            <a:r>
              <a:rPr lang="en-US" sz="1600" err="1">
                <a:latin typeface="Arial"/>
                <a:ea typeface="Calibri"/>
                <a:cs typeface="Arial"/>
              </a:rPr>
              <a:t>sarà</a:t>
            </a:r>
            <a:r>
              <a:rPr lang="en-US" sz="1600">
                <a:latin typeface="Arial"/>
                <a:ea typeface="Calibri"/>
                <a:cs typeface="Arial"/>
              </a:rPr>
              <a:t> (12 ÷ 23) µm, con Φ12;</a:t>
            </a:r>
          </a:p>
          <a:p>
            <a:pPr lvl="1"/>
            <a:endParaRPr lang="en-US" sz="1600">
              <a:latin typeface="Arial"/>
              <a:ea typeface="Calibri"/>
              <a:cs typeface="Arial"/>
            </a:endParaRPr>
          </a:p>
          <a:p>
            <a:pPr marL="742950" lvl="1" indent="-285750">
              <a:buFont typeface="Arial,Sans-Serif"/>
              <a:buChar char="•"/>
            </a:pPr>
            <a:r>
              <a:rPr lang="en-US" sz="1600" b="1">
                <a:latin typeface="Arial"/>
                <a:ea typeface="Calibri"/>
                <a:cs typeface="Arial"/>
              </a:rPr>
              <a:t>Pistone </a:t>
            </a:r>
            <a:r>
              <a:rPr lang="en-US" sz="1600" b="1" err="1">
                <a:latin typeface="Arial"/>
                <a:ea typeface="Calibri"/>
                <a:cs typeface="Arial"/>
              </a:rPr>
              <a:t>Idraulico</a:t>
            </a:r>
            <a:r>
              <a:rPr lang="en-US" sz="1600" b="1">
                <a:latin typeface="Arial"/>
                <a:ea typeface="Calibri"/>
                <a:cs typeface="Arial"/>
              </a:rPr>
              <a:t>, </a:t>
            </a:r>
            <a:r>
              <a:rPr lang="en-US" sz="1600" err="1">
                <a:latin typeface="Arial"/>
                <a:ea typeface="Calibri"/>
                <a:cs typeface="Arial"/>
              </a:rPr>
              <a:t>dato</a:t>
            </a:r>
            <a:r>
              <a:rPr lang="en-US" sz="1600">
                <a:latin typeface="Arial"/>
                <a:ea typeface="Calibri"/>
                <a:cs typeface="Arial"/>
              </a:rPr>
              <a:t> </a:t>
            </a:r>
            <a:r>
              <a:rPr lang="en-US" sz="1600" err="1">
                <a:latin typeface="Arial"/>
                <a:ea typeface="Calibri"/>
                <a:cs typeface="Arial"/>
              </a:rPr>
              <a:t>che</a:t>
            </a:r>
            <a:r>
              <a:rPr lang="en-US" sz="1600">
                <a:latin typeface="Arial"/>
                <a:ea typeface="Calibri"/>
                <a:cs typeface="Arial"/>
              </a:rPr>
              <a:t> il </a:t>
            </a:r>
            <a:r>
              <a:rPr lang="en-US" sz="1600" err="1">
                <a:latin typeface="Arial"/>
                <a:ea typeface="Calibri"/>
                <a:cs typeface="Arial"/>
              </a:rPr>
              <a:t>pistone</a:t>
            </a:r>
            <a:r>
              <a:rPr lang="en-US" sz="1600">
                <a:latin typeface="Arial"/>
                <a:ea typeface="Calibri"/>
                <a:cs typeface="Arial"/>
              </a:rPr>
              <a:t> </a:t>
            </a:r>
            <a:r>
              <a:rPr lang="en-US" sz="1600" err="1">
                <a:latin typeface="Arial"/>
                <a:ea typeface="Calibri"/>
                <a:cs typeface="Arial"/>
              </a:rPr>
              <a:t>deve</a:t>
            </a:r>
            <a:r>
              <a:rPr lang="en-US" sz="1600">
                <a:latin typeface="Arial"/>
                <a:ea typeface="Calibri"/>
                <a:cs typeface="Arial"/>
              </a:rPr>
              <a:t> </a:t>
            </a:r>
            <a:r>
              <a:rPr lang="en-US" sz="1600" err="1">
                <a:latin typeface="Arial"/>
                <a:ea typeface="Calibri"/>
                <a:cs typeface="Arial"/>
              </a:rPr>
              <a:t>poter</a:t>
            </a:r>
            <a:r>
              <a:rPr lang="en-US" sz="1600">
                <a:latin typeface="Arial"/>
                <a:ea typeface="Calibri"/>
                <a:cs typeface="Arial"/>
              </a:rPr>
              <a:t> </a:t>
            </a:r>
            <a:r>
              <a:rPr lang="en-US" sz="1600" err="1">
                <a:latin typeface="Arial"/>
                <a:ea typeface="Calibri"/>
                <a:cs typeface="Arial"/>
              </a:rPr>
              <a:t>svolgere</a:t>
            </a:r>
            <a:r>
              <a:rPr lang="en-US" sz="1600">
                <a:latin typeface="Arial"/>
                <a:ea typeface="Calibri"/>
                <a:cs typeface="Arial"/>
              </a:rPr>
              <a:t> le sue </a:t>
            </a:r>
            <a:r>
              <a:rPr lang="en-US" sz="1600" err="1">
                <a:latin typeface="Arial"/>
                <a:ea typeface="Calibri"/>
                <a:cs typeface="Arial"/>
              </a:rPr>
              <a:t>corse</a:t>
            </a:r>
            <a:r>
              <a:rPr lang="en-US" sz="1600">
                <a:latin typeface="Arial"/>
                <a:ea typeface="Calibri"/>
                <a:cs typeface="Arial"/>
              </a:rPr>
              <a:t> di </a:t>
            </a:r>
            <a:r>
              <a:rPr lang="en-US" sz="1600" err="1">
                <a:latin typeface="Arial"/>
                <a:ea typeface="Calibri"/>
                <a:cs typeface="Arial"/>
              </a:rPr>
              <a:t>uscita</a:t>
            </a:r>
            <a:r>
              <a:rPr lang="en-US" sz="1600">
                <a:latin typeface="Arial"/>
                <a:ea typeface="Calibri"/>
                <a:cs typeface="Arial"/>
              </a:rPr>
              <a:t> e </a:t>
            </a:r>
            <a:r>
              <a:rPr lang="en-US" sz="1600" err="1">
                <a:latin typeface="Arial"/>
                <a:ea typeface="Calibri"/>
                <a:cs typeface="Arial"/>
              </a:rPr>
              <a:t>rientro</a:t>
            </a:r>
            <a:r>
              <a:rPr lang="en-US" sz="1600">
                <a:latin typeface="Arial"/>
                <a:ea typeface="Calibri"/>
                <a:cs typeface="Arial"/>
              </a:rPr>
              <a:t> senza </a:t>
            </a:r>
            <a:r>
              <a:rPr lang="en-US" sz="1600" err="1">
                <a:latin typeface="Arial"/>
                <a:ea typeface="Calibri"/>
                <a:cs typeface="Arial"/>
              </a:rPr>
              <a:t>ostacoli</a:t>
            </a:r>
            <a:r>
              <a:rPr lang="en-US" sz="1600">
                <a:latin typeface="Arial"/>
                <a:ea typeface="Calibri"/>
                <a:cs typeface="Arial"/>
              </a:rPr>
              <a:t> ci </a:t>
            </a:r>
            <a:r>
              <a:rPr lang="en-US" sz="1600" err="1">
                <a:latin typeface="Arial"/>
                <a:ea typeface="Calibri"/>
                <a:cs typeface="Arial"/>
              </a:rPr>
              <a:t>dovrà</a:t>
            </a:r>
            <a:r>
              <a:rPr lang="en-US" sz="1600">
                <a:latin typeface="Arial"/>
                <a:ea typeface="Calibri"/>
                <a:cs typeface="Arial"/>
              </a:rPr>
              <a:t> </a:t>
            </a:r>
            <a:r>
              <a:rPr lang="en-US" sz="1600" err="1">
                <a:latin typeface="Arial"/>
                <a:ea typeface="Calibri"/>
                <a:cs typeface="Arial"/>
              </a:rPr>
              <a:t>essere</a:t>
            </a:r>
            <a:r>
              <a:rPr lang="en-US" sz="1600">
                <a:latin typeface="Arial"/>
                <a:ea typeface="Calibri"/>
                <a:cs typeface="Arial"/>
              </a:rPr>
              <a:t> del </a:t>
            </a:r>
            <a:r>
              <a:rPr lang="en-US" sz="1600" err="1">
                <a:latin typeface="Arial"/>
                <a:ea typeface="Calibri"/>
                <a:cs typeface="Arial"/>
              </a:rPr>
              <a:t>gioco</a:t>
            </a:r>
            <a:r>
              <a:rPr lang="en-US" sz="1600">
                <a:latin typeface="Arial"/>
                <a:ea typeface="Calibri"/>
                <a:cs typeface="Arial"/>
              </a:rPr>
              <a:t>, </a:t>
            </a:r>
            <a:r>
              <a:rPr lang="en-US" sz="1600" err="1">
                <a:latin typeface="Arial"/>
                <a:ea typeface="Calibri"/>
                <a:cs typeface="Arial"/>
              </a:rPr>
              <a:t>quindi</a:t>
            </a:r>
            <a:r>
              <a:rPr lang="en-US" sz="1600">
                <a:latin typeface="Arial"/>
                <a:ea typeface="Calibri"/>
                <a:cs typeface="Arial"/>
              </a:rPr>
              <a:t> </a:t>
            </a:r>
            <a:r>
              <a:rPr lang="en-US" sz="1600" err="1">
                <a:latin typeface="Arial"/>
                <a:ea typeface="Calibri"/>
                <a:cs typeface="Arial"/>
              </a:rPr>
              <a:t>si</a:t>
            </a:r>
            <a:r>
              <a:rPr lang="en-US" sz="1600">
                <a:latin typeface="Arial"/>
                <a:ea typeface="Calibri"/>
                <a:cs typeface="Arial"/>
              </a:rPr>
              <a:t> è </a:t>
            </a:r>
            <a:r>
              <a:rPr lang="en-US" sz="1600" err="1">
                <a:latin typeface="Arial"/>
                <a:ea typeface="Calibri"/>
                <a:cs typeface="Arial"/>
              </a:rPr>
              <a:t>optato</a:t>
            </a:r>
            <a:r>
              <a:rPr lang="en-US" sz="1600">
                <a:latin typeface="Arial"/>
                <a:ea typeface="Calibri"/>
                <a:cs typeface="Arial"/>
              </a:rPr>
              <a:t> per un </a:t>
            </a:r>
            <a:r>
              <a:rPr lang="en-US" sz="1600" err="1">
                <a:latin typeface="Arial"/>
                <a:ea typeface="Calibri"/>
                <a:cs typeface="Arial"/>
              </a:rPr>
              <a:t>accoppiamento</a:t>
            </a:r>
            <a:r>
              <a:rPr lang="en-US" sz="1600">
                <a:latin typeface="Arial"/>
                <a:ea typeface="Calibri"/>
                <a:cs typeface="Arial"/>
              </a:rPr>
              <a:t> per </a:t>
            </a:r>
            <a:r>
              <a:rPr lang="en-US" sz="1600" err="1">
                <a:latin typeface="Arial"/>
                <a:ea typeface="Calibri"/>
                <a:cs typeface="Arial"/>
              </a:rPr>
              <a:t>gioco</a:t>
            </a:r>
            <a:r>
              <a:rPr lang="en-US" sz="1600">
                <a:latin typeface="Arial"/>
                <a:ea typeface="Calibri"/>
                <a:cs typeface="Arial"/>
              </a:rPr>
              <a:t> H7/g6, in cui la </a:t>
            </a:r>
            <a:r>
              <a:rPr lang="en-US" sz="1600" err="1">
                <a:latin typeface="Arial"/>
                <a:ea typeface="Calibri"/>
                <a:cs typeface="Arial"/>
              </a:rPr>
              <a:t>dimensione</a:t>
            </a:r>
            <a:r>
              <a:rPr lang="en-US" sz="1600">
                <a:latin typeface="Arial"/>
                <a:ea typeface="Calibri"/>
                <a:cs typeface="Arial"/>
              </a:rPr>
              <a:t> del </a:t>
            </a:r>
            <a:r>
              <a:rPr lang="en-US" sz="1600" err="1">
                <a:latin typeface="Arial"/>
                <a:ea typeface="Calibri"/>
                <a:cs typeface="Arial"/>
              </a:rPr>
              <a:t>foro</a:t>
            </a:r>
            <a:r>
              <a:rPr lang="en-US" sz="1600">
                <a:latin typeface="Arial"/>
                <a:ea typeface="Calibri"/>
                <a:cs typeface="Arial"/>
              </a:rPr>
              <a:t> </a:t>
            </a:r>
            <a:r>
              <a:rPr lang="en-US" sz="1600" err="1">
                <a:latin typeface="Arial"/>
                <a:ea typeface="Calibri"/>
                <a:cs typeface="Arial"/>
              </a:rPr>
              <a:t>sarà</a:t>
            </a:r>
            <a:r>
              <a:rPr lang="en-US" sz="1600">
                <a:latin typeface="Arial"/>
                <a:ea typeface="Calibri"/>
                <a:cs typeface="Arial"/>
              </a:rPr>
              <a:t> 0÷15 µm, </a:t>
            </a:r>
            <a:r>
              <a:rPr lang="en-US" sz="1600" err="1">
                <a:latin typeface="Arial"/>
                <a:ea typeface="Calibri"/>
                <a:cs typeface="Arial"/>
              </a:rPr>
              <a:t>mentre</a:t>
            </a:r>
            <a:r>
              <a:rPr lang="en-US" sz="1600">
                <a:latin typeface="Arial"/>
                <a:ea typeface="Calibri"/>
                <a:cs typeface="Arial"/>
              </a:rPr>
              <a:t> </a:t>
            </a:r>
            <a:r>
              <a:rPr lang="en-US" sz="1600" err="1">
                <a:latin typeface="Arial"/>
                <a:ea typeface="Calibri"/>
                <a:cs typeface="Arial"/>
              </a:rPr>
              <a:t>quella</a:t>
            </a:r>
            <a:r>
              <a:rPr lang="en-US" sz="1600">
                <a:latin typeface="Arial"/>
                <a:ea typeface="Calibri"/>
                <a:cs typeface="Arial"/>
              </a:rPr>
              <a:t> </a:t>
            </a:r>
            <a:r>
              <a:rPr lang="en-US" sz="1600" err="1">
                <a:latin typeface="Arial"/>
                <a:ea typeface="Calibri"/>
                <a:cs typeface="Arial"/>
              </a:rPr>
              <a:t>dell'albero</a:t>
            </a:r>
            <a:r>
              <a:rPr lang="en-US" sz="1600">
                <a:latin typeface="Arial"/>
                <a:ea typeface="Calibri"/>
                <a:cs typeface="Arial"/>
              </a:rPr>
              <a:t> </a:t>
            </a:r>
            <a:r>
              <a:rPr lang="en-US" sz="1600" err="1">
                <a:latin typeface="Arial"/>
                <a:ea typeface="Calibri"/>
                <a:cs typeface="Arial"/>
              </a:rPr>
              <a:t>sarà</a:t>
            </a:r>
            <a:r>
              <a:rPr lang="en-US" sz="1600">
                <a:latin typeface="Arial"/>
                <a:ea typeface="Calibri"/>
                <a:cs typeface="Arial"/>
              </a:rPr>
              <a:t> (-5 ÷ -14) µm, con </a:t>
            </a:r>
            <a:r>
              <a:rPr lang="en-US" sz="1600">
                <a:latin typeface="Arial"/>
                <a:ea typeface="+mn-lt"/>
                <a:cs typeface="+mn-lt"/>
              </a:rPr>
              <a:t>Φ7</a:t>
            </a:r>
            <a:r>
              <a:rPr lang="en-US" sz="1600">
                <a:latin typeface="Arial"/>
                <a:ea typeface="Calibri"/>
                <a:cs typeface="Arial"/>
              </a:rPr>
              <a:t>;</a:t>
            </a:r>
          </a:p>
        </p:txBody>
      </p:sp>
      <p:sp>
        <p:nvSpPr>
          <p:cNvPr id="4" name="TextBox 3">
            <a:extLst>
              <a:ext uri="{FF2B5EF4-FFF2-40B4-BE49-F238E27FC236}">
                <a16:creationId xmlns:a16="http://schemas.microsoft.com/office/drawing/2014/main" id="{9D60BED2-8C7A-B030-2092-2F52691DDD72}"/>
              </a:ext>
            </a:extLst>
          </p:cNvPr>
          <p:cNvSpPr txBox="1"/>
          <p:nvPr/>
        </p:nvSpPr>
        <p:spPr>
          <a:xfrm>
            <a:off x="1304795" y="5093917"/>
            <a:ext cx="958240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I </a:t>
            </a:r>
            <a:r>
              <a:rPr lang="en-US" sz="1400" err="1">
                <a:ea typeface="Calibri"/>
                <a:cs typeface="Calibri"/>
              </a:rPr>
              <a:t>dati</a:t>
            </a:r>
            <a:r>
              <a:rPr lang="en-US" sz="1400">
                <a:ea typeface="Calibri"/>
                <a:cs typeface="Calibri"/>
              </a:rPr>
              <a:t> </a:t>
            </a:r>
            <a:r>
              <a:rPr lang="en-US" sz="1400" err="1">
                <a:ea typeface="Calibri"/>
                <a:cs typeface="Calibri"/>
              </a:rPr>
              <a:t>relativi</a:t>
            </a:r>
            <a:r>
              <a:rPr lang="en-US" sz="1400">
                <a:ea typeface="Calibri"/>
                <a:cs typeface="Calibri"/>
              </a:rPr>
              <a:t> alle </a:t>
            </a:r>
            <a:r>
              <a:rPr lang="en-US" sz="1400" err="1">
                <a:ea typeface="Calibri"/>
                <a:cs typeface="Calibri"/>
              </a:rPr>
              <a:t>dimensioni</a:t>
            </a:r>
            <a:r>
              <a:rPr lang="en-US" sz="1400">
                <a:ea typeface="Calibri"/>
                <a:cs typeface="Calibri"/>
              </a:rPr>
              <a:t> di </a:t>
            </a:r>
            <a:r>
              <a:rPr lang="en-US" sz="1400" err="1">
                <a:ea typeface="Calibri"/>
                <a:cs typeface="Calibri"/>
              </a:rPr>
              <a:t>alberi</a:t>
            </a:r>
            <a:r>
              <a:rPr lang="en-US" sz="1400">
                <a:ea typeface="Calibri"/>
                <a:cs typeface="Calibri"/>
              </a:rPr>
              <a:t> e </a:t>
            </a:r>
            <a:r>
              <a:rPr lang="en-US" sz="1400" err="1">
                <a:ea typeface="Calibri"/>
                <a:cs typeface="Calibri"/>
              </a:rPr>
              <a:t>fori</a:t>
            </a:r>
            <a:r>
              <a:rPr lang="en-US" sz="1400">
                <a:ea typeface="Calibri"/>
                <a:cs typeface="Calibri"/>
              </a:rPr>
              <a:t> con le </a:t>
            </a:r>
            <a:r>
              <a:rPr lang="en-US" sz="1400" err="1">
                <a:ea typeface="Calibri"/>
                <a:cs typeface="Calibri"/>
              </a:rPr>
              <a:t>tolleranze</a:t>
            </a:r>
            <a:r>
              <a:rPr lang="en-US" sz="1400">
                <a:ea typeface="Calibri"/>
                <a:cs typeface="Calibri"/>
              </a:rPr>
              <a:t> </a:t>
            </a:r>
            <a:r>
              <a:rPr lang="en-US" sz="1400" err="1">
                <a:ea typeface="Calibri"/>
                <a:cs typeface="Calibri"/>
              </a:rPr>
              <a:t>sono</a:t>
            </a:r>
            <a:r>
              <a:rPr lang="en-US" sz="1400">
                <a:ea typeface="Calibri"/>
                <a:cs typeface="Calibri"/>
              </a:rPr>
              <a:t> </a:t>
            </a:r>
            <a:r>
              <a:rPr lang="en-US" sz="1400" err="1">
                <a:ea typeface="Calibri"/>
                <a:cs typeface="Calibri"/>
              </a:rPr>
              <a:t>stati</a:t>
            </a:r>
            <a:r>
              <a:rPr lang="en-US" sz="1400">
                <a:ea typeface="Calibri"/>
                <a:cs typeface="Calibri"/>
              </a:rPr>
              <a:t> </a:t>
            </a:r>
            <a:r>
              <a:rPr lang="en-US" sz="1400" err="1">
                <a:ea typeface="Calibri"/>
                <a:cs typeface="Calibri"/>
              </a:rPr>
              <a:t>reperiti</a:t>
            </a:r>
            <a:r>
              <a:rPr lang="en-US" sz="1400">
                <a:ea typeface="Calibri"/>
                <a:cs typeface="Calibri"/>
              </a:rPr>
              <a:t> </a:t>
            </a:r>
            <a:r>
              <a:rPr lang="en-US" sz="1400" err="1">
                <a:ea typeface="Calibri"/>
                <a:cs typeface="Calibri"/>
              </a:rPr>
              <a:t>dalle</a:t>
            </a:r>
            <a:r>
              <a:rPr lang="en-US" sz="1400">
                <a:ea typeface="Calibri"/>
                <a:cs typeface="Calibri"/>
              </a:rPr>
              <a:t> </a:t>
            </a:r>
            <a:r>
              <a:rPr lang="en-US" sz="1400" err="1">
                <a:ea typeface="Calibri"/>
                <a:cs typeface="Calibri"/>
              </a:rPr>
              <a:t>tabelle</a:t>
            </a:r>
            <a:r>
              <a:rPr lang="en-US" sz="1400">
                <a:ea typeface="Calibri"/>
                <a:cs typeface="Calibri"/>
              </a:rPr>
              <a:t> </a:t>
            </a:r>
            <a:r>
              <a:rPr lang="en-US" sz="1400" err="1">
                <a:ea typeface="Calibri"/>
                <a:cs typeface="Calibri"/>
              </a:rPr>
              <a:t>fornite</a:t>
            </a:r>
            <a:r>
              <a:rPr lang="en-US" sz="1400">
                <a:ea typeface="Calibri"/>
                <a:cs typeface="Calibri"/>
              </a:rPr>
              <a:t> </a:t>
            </a:r>
            <a:r>
              <a:rPr lang="en-US" sz="1400" err="1">
                <a:ea typeface="Calibri"/>
                <a:cs typeface="Calibri"/>
              </a:rPr>
              <a:t>dalla</a:t>
            </a:r>
            <a:r>
              <a:rPr lang="en-US" sz="1400">
                <a:ea typeface="Calibri"/>
                <a:cs typeface="Calibri"/>
              </a:rPr>
              <a:t> </a:t>
            </a:r>
            <a:r>
              <a:rPr lang="en-US" sz="1400" err="1">
                <a:ea typeface="Calibri"/>
                <a:cs typeface="Calibri"/>
              </a:rPr>
              <a:t>Professoressa</a:t>
            </a:r>
            <a:r>
              <a:rPr lang="en-US" sz="1400">
                <a:ea typeface="Calibri"/>
                <a:cs typeface="Calibri"/>
              </a:rPr>
              <a:t> </a:t>
            </a:r>
            <a:r>
              <a:rPr lang="en-US" sz="1400" err="1">
                <a:ea typeface="Calibri"/>
                <a:cs typeface="Calibri"/>
              </a:rPr>
              <a:t>sul</a:t>
            </a:r>
            <a:r>
              <a:rPr lang="en-US" sz="1400">
                <a:ea typeface="Calibri"/>
                <a:cs typeface="Calibri"/>
              </a:rPr>
              <a:t> </a:t>
            </a:r>
            <a:r>
              <a:rPr lang="en-US" sz="1400" err="1">
                <a:ea typeface="Calibri"/>
                <a:cs typeface="Calibri"/>
              </a:rPr>
              <a:t>Virtuale</a:t>
            </a:r>
            <a:r>
              <a:rPr lang="en-US" sz="1400">
                <a:ea typeface="Calibri"/>
                <a:cs typeface="Calibri"/>
              </a:rPr>
              <a:t>.</a:t>
            </a:r>
            <a:endParaRPr lang="en-US" sz="1400"/>
          </a:p>
        </p:txBody>
      </p:sp>
    </p:spTree>
    <p:extLst>
      <p:ext uri="{BB962C8B-B14F-4D97-AF65-F5344CB8AC3E}">
        <p14:creationId xmlns:p14="http://schemas.microsoft.com/office/powerpoint/2010/main" val="571439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p:cNvSpPr>
            <a:spLocks noGrp="1"/>
          </p:cNvSpPr>
          <p:nvPr>
            <p:ph type="body" sz="quarter" idx="11"/>
          </p:nvPr>
        </p:nvSpPr>
        <p:spPr>
          <a:xfrm>
            <a:off x="1439483" y="3140969"/>
            <a:ext cx="9313035" cy="706992"/>
          </a:xfrm>
        </p:spPr>
        <p:txBody>
          <a:bodyPr/>
          <a:lstStyle/>
          <a:p>
            <a:r>
              <a:rPr lang="en-US" sz="1600"/>
              <a:t>Brake Caliper DH 020 FHM</a:t>
            </a:r>
            <a:endParaRPr lang="it-IT" sz="1600"/>
          </a:p>
        </p:txBody>
      </p:sp>
      <p:sp>
        <p:nvSpPr>
          <p:cNvPr id="6" name="Segnaposto testo 3"/>
          <p:cNvSpPr>
            <a:spLocks noGrp="1"/>
          </p:cNvSpPr>
          <p:nvPr>
            <p:ph type="body" sz="quarter" idx="12"/>
          </p:nvPr>
        </p:nvSpPr>
        <p:spPr bwMode="auto">
          <a:xfrm>
            <a:off x="2602991" y="5068722"/>
            <a:ext cx="7058025" cy="792832"/>
          </a:xfrm>
          <a:noFill/>
          <a:ln>
            <a:miter lim="800000"/>
            <a:headEnd/>
            <a:tailEnd/>
          </a:ln>
        </p:spPr>
        <p:txBody>
          <a:bodyPr vert="horz" wrap="square" lIns="91440" tIns="45720" rIns="91440" bIns="45720" numCol="1" anchor="t" anchorCtr="0" compatLnSpc="1">
            <a:prstTxWarp prst="textNoShape">
              <a:avLst/>
            </a:prstTxWarp>
          </a:bodyPr>
          <a:lstStyle/>
          <a:p>
            <a:r>
              <a:rPr lang="it-IT" sz="1100"/>
              <a:t>KAMTA DILAN - LIPPI LORENZO - QUATTRINI MICHAEL - SELIMI ALMEN</a:t>
            </a:r>
          </a:p>
        </p:txBody>
      </p:sp>
      <p:sp>
        <p:nvSpPr>
          <p:cNvPr id="4" name="Segnaposto testo 3">
            <a:extLst>
              <a:ext uri="{FF2B5EF4-FFF2-40B4-BE49-F238E27FC236}">
                <a16:creationId xmlns:a16="http://schemas.microsoft.com/office/drawing/2014/main" id="{2DCC1E68-3ABF-0732-D4AC-3E52B5DF0F12}"/>
              </a:ext>
            </a:extLst>
          </p:cNvPr>
          <p:cNvSpPr>
            <a:spLocks noGrp="1"/>
          </p:cNvSpPr>
          <p:nvPr>
            <p:ph type="body" sz="quarter" idx="11"/>
          </p:nvPr>
        </p:nvSpPr>
        <p:spPr/>
        <p:txBody>
          <a:bodyPr/>
          <a:lstStyle/>
          <a:p>
            <a:endParaRPr lang="it-IT"/>
          </a:p>
        </p:txBody>
      </p:sp>
    </p:spTree>
    <p:extLst>
      <p:ext uri="{BB962C8B-B14F-4D97-AF65-F5344CB8AC3E}">
        <p14:creationId xmlns:p14="http://schemas.microsoft.com/office/powerpoint/2010/main" val="2269412900"/>
      </p:ext>
    </p:extLst>
  </p:cSld>
  <p:clrMapOvr>
    <a:masterClrMapping/>
  </p:clrMapOvr>
</p:sld>
</file>

<file path=ppt/theme/theme1.xml><?xml version="1.0" encoding="utf-8"?>
<a:theme xmlns:a="http://schemas.openxmlformats.org/drawingml/2006/main" name="COPERTIN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4000" b="1" dirty="0" smtClean="0">
            <a:solidFill>
              <a:schemeClr val="bg1"/>
            </a:solidFill>
            <a:latin typeface="Century Gothic" panose="020B0502020202020204" pitchFamily="34" charset="0"/>
          </a:defRPr>
        </a:defPPr>
      </a:lstStyle>
    </a:txDef>
  </a:objectDefaults>
  <a:extraClrSchemeLst/>
</a:theme>
</file>

<file path=ppt/theme/theme2.xml><?xml version="1.0" encoding="utf-8"?>
<a:theme xmlns:a="http://schemas.openxmlformats.org/drawingml/2006/main" name="DIAPOSITIV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HIUSURA">
  <a:themeElements>
    <a:clrScheme name="Personalizzato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EEECE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9CED8EAC5CDC4469EF7330F25FDB9A3" ma:contentTypeVersion="9" ma:contentTypeDescription="Create a new document." ma:contentTypeScope="" ma:versionID="37e45761692819973a2c0213f6827155">
  <xsd:schema xmlns:xsd="http://www.w3.org/2001/XMLSchema" xmlns:xs="http://www.w3.org/2001/XMLSchema" xmlns:p="http://schemas.microsoft.com/office/2006/metadata/properties" xmlns:ns3="faf19e63-e5c2-49de-ad4c-b78cf1af40cf" xmlns:ns4="b6699f54-5d2b-4cb0-9fc8-f39dea529984" targetNamespace="http://schemas.microsoft.com/office/2006/metadata/properties" ma:root="true" ma:fieldsID="ee7aef8e92e753deec488c5e90c26444" ns3:_="" ns4:_="">
    <xsd:import namespace="faf19e63-e5c2-49de-ad4c-b78cf1af40cf"/>
    <xsd:import namespace="b6699f54-5d2b-4cb0-9fc8-f39dea529984"/>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4:SharedWithUsers" minOccurs="0"/>
                <xsd:element ref="ns4:SharedWithDetails" minOccurs="0"/>
                <xsd:element ref="ns4:SharingHintHash"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f19e63-e5c2-49de-ad4c-b78cf1af40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6"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6699f54-5d2b-4cb0-9fc8-f39dea52998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faf19e63-e5c2-49de-ad4c-b78cf1af40cf" xsi:nil="true"/>
  </documentManagement>
</p:properties>
</file>

<file path=customXml/itemProps1.xml><?xml version="1.0" encoding="utf-8"?>
<ds:datastoreItem xmlns:ds="http://schemas.openxmlformats.org/officeDocument/2006/customXml" ds:itemID="{1F431BF4-003A-420A-9F86-DCB5B4D2A527}">
  <ds:schemaRefs>
    <ds:schemaRef ds:uri="http://schemas.microsoft.com/sharepoint/v3/contenttype/forms"/>
  </ds:schemaRefs>
</ds:datastoreItem>
</file>

<file path=customXml/itemProps2.xml><?xml version="1.0" encoding="utf-8"?>
<ds:datastoreItem xmlns:ds="http://schemas.openxmlformats.org/officeDocument/2006/customXml" ds:itemID="{10617653-4DF0-444F-9132-87A10050C31C}">
  <ds:schemaRefs>
    <ds:schemaRef ds:uri="b6699f54-5d2b-4cb0-9fc8-f39dea529984"/>
    <ds:schemaRef ds:uri="faf19e63-e5c2-49de-ad4c-b78cf1af40c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78921CB-4A39-43FF-9D82-B95650BF5EEB}">
  <ds:schemaRefs>
    <ds:schemaRef ds:uri="b6699f54-5d2b-4cb0-9fc8-f39dea529984"/>
    <ds:schemaRef ds:uri="faf19e63-e5c2-49de-ad4c-b78cf1af40c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6</TotalTime>
  <Words>944</Words>
  <Application>Microsoft Office PowerPoint</Application>
  <PresentationFormat>Widescreen</PresentationFormat>
  <Paragraphs>209</Paragraphs>
  <Slides>12</Slides>
  <Notes>1</Notes>
  <HiddenSlides>0</HiddenSlides>
  <MMClips>1</MMClips>
  <ScaleCrop>false</ScaleCrop>
  <HeadingPairs>
    <vt:vector size="6" baseType="variant">
      <vt:variant>
        <vt:lpstr>Caratteri utilizzati</vt:lpstr>
      </vt:variant>
      <vt:variant>
        <vt:i4>6</vt:i4>
      </vt:variant>
      <vt:variant>
        <vt:lpstr>Tema</vt:lpstr>
      </vt:variant>
      <vt:variant>
        <vt:i4>3</vt:i4>
      </vt:variant>
      <vt:variant>
        <vt:lpstr>Titoli diapositive</vt:lpstr>
      </vt:variant>
      <vt:variant>
        <vt:i4>12</vt:i4>
      </vt:variant>
    </vt:vector>
  </HeadingPairs>
  <TitlesOfParts>
    <vt:vector size="21" baseType="lpstr">
      <vt:lpstr>Aptos</vt:lpstr>
      <vt:lpstr>Arial</vt:lpstr>
      <vt:lpstr>Arial,Sans-Serif</vt:lpstr>
      <vt:lpstr>Calibri</vt:lpstr>
      <vt:lpstr>Century Gothic</vt:lpstr>
      <vt:lpstr>Wingdings</vt:lpstr>
      <vt:lpstr>COPERTINA</vt:lpstr>
      <vt:lpstr>DIAPOSITIVE</vt:lpstr>
      <vt:lpstr>CHIUSURA</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Università di Bologna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UTENTE</dc:creator>
  <cp:lastModifiedBy>Utente</cp:lastModifiedBy>
  <cp:revision>6</cp:revision>
  <cp:lastPrinted>2021-09-28T14:06:05Z</cp:lastPrinted>
  <dcterms:created xsi:type="dcterms:W3CDTF">2017-11-13T10:11:35Z</dcterms:created>
  <dcterms:modified xsi:type="dcterms:W3CDTF">2025-06-04T08:38:22Z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0x010100C9CED8EAC5CDC4469EF7330F25FDB9A3</vt:lpwstr>
  </property>
</Properties>
</file>